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98" r:id="rId5"/>
    <p:sldId id="301" r:id="rId6"/>
    <p:sldId id="305" r:id="rId7"/>
    <p:sldId id="303" r:id="rId8"/>
    <p:sldId id="302" r:id="rId9"/>
    <p:sldId id="304" r:id="rId10"/>
    <p:sldId id="308" r:id="rId11"/>
    <p:sldId id="313" r:id="rId12"/>
    <p:sldId id="311" r:id="rId13"/>
    <p:sldId id="314" r:id="rId1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9900"/>
    <a:srgbClr val="CC99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61" autoAdjust="0"/>
  </p:normalViewPr>
  <p:slideViewPr>
    <p:cSldViewPr snapToGrid="0">
      <p:cViewPr>
        <p:scale>
          <a:sx n="57" d="100"/>
          <a:sy n="57" d="100"/>
        </p:scale>
        <p:origin x="1260" y="2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2CF2B-E82F-4152-ADD2-ED47E5A676F4}" type="datetimeFigureOut">
              <a:rPr lang="pt-BR" smtClean="0"/>
              <a:t>14/07/2026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E9163-63CE-4B6F-8106-3CB82B73A73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8664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9FF0D-B331-4276-BF84-39B369306F99}" type="datetimeFigureOut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564A1-17BF-464F-B2FE-65DA37285BF0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172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C564A1-17BF-464F-B2FE-65DA37285B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8709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448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10648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54803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86385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98490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91362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96682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29975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C564A1-17BF-464F-B2FE-65DA37285BF0}" type="slidenum">
              <a:rPr lang="pt-BR" noProof="0" smtClean="0"/>
              <a:t>10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2594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4E8571-58AC-4B02-A72C-B7E3E60A7BA5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C2D5DC-E9E6-4460-9005-9561D7AE5062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616C38-4A2F-4C3B-B502-7E51C7F0342F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EB7CE7-B188-4FE4-8B6E-3889DBBDC355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932F7F-8399-49FC-B033-AD7A4B77F998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506B10-4878-49BC-96DE-C536CADA3095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0B6ED2-E191-4517-BA6B-37A4CEFA3A0D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DB650E8-F74D-4BD3-A6BC-1B4D756C4BE8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B56C06F-C179-4D6D-A0AC-A9C8705BD208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72B881A2-478D-4079-BD8F-044C479AA962}" type="datetime1">
              <a:rPr lang="pt-BR" noProof="0" smtClean="0"/>
              <a:t>14/07/2026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9BFB13-52A3-8166-432C-DECC1976007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429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Corporativo | Interno</a:t>
            </a:r>
          </a:p>
        </p:txBody>
      </p: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Imagem 3" descr="Imagem Ampliada de um pedaço de papel com um lápis sobre este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3" y="-63481"/>
            <a:ext cx="12191980" cy="6858000"/>
          </a:xfrm>
          <a:prstGeom prst="rect">
            <a:avLst/>
          </a:prstGeom>
        </p:spPr>
      </p:pic>
      <p:sp>
        <p:nvSpPr>
          <p:cNvPr id="35" name="Retângulo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5641" y="1772868"/>
            <a:ext cx="3563308" cy="2137318"/>
          </a:xfrm>
        </p:spPr>
        <p:txBody>
          <a:bodyPr rtlCol="0" anchor="t">
            <a:normAutofit fontScale="90000"/>
          </a:bodyPr>
          <a:lstStyle/>
          <a:p>
            <a:pPr>
              <a:lnSpc>
                <a:spcPct val="105000"/>
              </a:lnSpc>
            </a:pPr>
            <a:r>
              <a:rPr lang="pt-B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Plataforma de Dados para Análise da Alfabetização no Brasil</a:t>
            </a:r>
            <a:br>
              <a:rPr lang="pt-BR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</a:br>
            <a:endParaRPr lang="en-US" sz="3200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6090" y="4543078"/>
            <a:ext cx="3399534" cy="1071278"/>
          </a:xfrm>
        </p:spPr>
        <p:txBody>
          <a:bodyPr rtlCol="0" anchor="t">
            <a:normAutofit lnSpcReduction="10000"/>
          </a:bodyPr>
          <a:lstStyle/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1" dirty="0"/>
              <a:t>Grupo 126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dirty="0"/>
              <a:t>Alessandra Capecce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dirty="0"/>
              <a:t>Alessandro santos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dirty="0"/>
              <a:t>Edson </a:t>
            </a:r>
            <a:r>
              <a:rPr lang="pt-BR" sz="1400" dirty="0" err="1"/>
              <a:t>doro</a:t>
            </a:r>
            <a:endParaRPr lang="pt-BR" sz="1400" dirty="0"/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ângulo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87D8866-030B-55FE-66BF-2E387B2AAEFE}"/>
              </a:ext>
            </a:extLst>
          </p:cNvPr>
          <p:cNvSpPr txBox="1">
            <a:spLocks/>
          </p:cNvSpPr>
          <p:nvPr/>
        </p:nvSpPr>
        <p:spPr>
          <a:xfrm>
            <a:off x="7909333" y="1316294"/>
            <a:ext cx="3635925" cy="456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pt-BR" sz="1600" dirty="0"/>
              <a:t>FIAP Tech </a:t>
            </a:r>
            <a:r>
              <a:rPr lang="pt-BR" sz="1600" dirty="0" err="1"/>
              <a:t>challenge</a:t>
            </a:r>
            <a:r>
              <a:rPr lang="pt-BR" sz="1600" dirty="0"/>
              <a:t> fase 2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805"/>
    </mc:Choice>
    <mc:Fallback xmlns="">
      <p:transition spd="slow" advTm="80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5A1AC-15E4-CACF-267E-46855134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012" y="523875"/>
            <a:ext cx="1841863" cy="794383"/>
          </a:xfrm>
        </p:spPr>
        <p:txBody>
          <a:bodyPr>
            <a:noAutofit/>
          </a:bodyPr>
          <a:lstStyle/>
          <a:p>
            <a:r>
              <a:rPr lang="pt-BR" sz="5400" b="1" dirty="0">
                <a:latin typeface="Cambria" panose="02040503050406030204" pitchFamily="18" charset="0"/>
                <a:ea typeface="Cambria" panose="02040503050406030204" pitchFamily="18" charset="0"/>
              </a:rPr>
              <a:t>2030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531CAD-9190-108D-0FEE-284CEAB3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174" y="1594084"/>
            <a:ext cx="4057649" cy="25862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pt-BR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Compromisso nacional para 2030 </a:t>
            </a:r>
            <a:r>
              <a:rPr lang="pt-BR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 garantir que todas as crianças estejam alfabetizadas ao final do 2º ano </a:t>
            </a:r>
            <a:r>
              <a:rPr lang="en-US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do ensino fundamental.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Instrumento de mensuração </a:t>
            </a:r>
            <a:r>
              <a:rPr lang="pt-BR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</a:t>
            </a:r>
            <a:endParaRPr lang="en-US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>
                <a:solidFill>
                  <a:srgbClr val="CADCF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Indicador Criança Alfabetizada (ICA), calculado anualmente pelo Inep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974C01-C9A8-73B2-3B66-D5EF5150A02C}"/>
              </a:ext>
            </a:extLst>
          </p:cNvPr>
          <p:cNvSpPr txBox="1"/>
          <p:nvPr/>
        </p:nvSpPr>
        <p:spPr>
          <a:xfrm>
            <a:off x="4867276" y="1441150"/>
            <a:ext cx="7038974" cy="4213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alfabetização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infantil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é um dos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pilares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fundamentais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para o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desenvolvimento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educacional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social e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econômico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do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país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</a:p>
          <a:p>
            <a:pPr marL="0" indent="0">
              <a:lnSpc>
                <a:spcPct val="125000"/>
              </a:lnSpc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Compromisso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Nacional Criança Alfabetizada (CNCA)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lançado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pelo MEC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em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2023,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mobiliza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União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estados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Distrito Federal e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municípios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para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garantir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que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todas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as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crianças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brasileiras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estejam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alfabetizadas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até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o final do 2º </a:t>
            </a:r>
            <a:r>
              <a:rPr lang="en-US" sz="18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ano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do ensino fundamental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 Inep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criou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o </a:t>
            </a:r>
            <a:r>
              <a:rPr lang="en-US" sz="18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Indicador Criança Alfabetizada (ICA)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para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medir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todos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anos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o percentual de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crianças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que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concluem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essa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etapa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já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alfabetizadas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—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usando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o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ponto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corte de 743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pontos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escala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Saeb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como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referência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nacional</a:t>
            </a:r>
            <a:r>
              <a:rPr lang="en-US" sz="18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B9693B0-78E3-1206-524A-49351D5ED07A}"/>
              </a:ext>
            </a:extLst>
          </p:cNvPr>
          <p:cNvSpPr txBox="1"/>
          <p:nvPr/>
        </p:nvSpPr>
        <p:spPr>
          <a:xfrm>
            <a:off x="4848225" y="339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Problema de Negócio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90B6D65-18C7-BEE8-0456-F607F415CE01}"/>
              </a:ext>
            </a:extLst>
          </p:cNvPr>
          <p:cNvSpPr txBox="1"/>
          <p:nvPr/>
        </p:nvSpPr>
        <p:spPr>
          <a:xfrm>
            <a:off x="4867275" y="89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Indicador Criança Alfabetizada?</a:t>
            </a:r>
            <a:endParaRPr lang="en-US" sz="1800" dirty="0">
              <a:solidFill>
                <a:srgbClr val="000099"/>
              </a:solidFill>
            </a:endParaRPr>
          </a:p>
        </p:txBody>
      </p:sp>
      <p:pic>
        <p:nvPicPr>
          <p:cNvPr id="12" name="Gráfico 11" descr="Na mosca estrutura de tópicos">
            <a:extLst>
              <a:ext uri="{FF2B5EF4-FFF2-40B4-BE49-F238E27FC236}">
                <a16:creationId xmlns:a16="http://schemas.microsoft.com/office/drawing/2014/main" id="{5253355C-7FD8-C5E2-DB85-A6289ABE4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174" y="256766"/>
            <a:ext cx="1266825" cy="126682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9AF76FA-E05F-F5C4-8571-F6BC8B610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00" y="5141008"/>
            <a:ext cx="1246144" cy="51341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C64E473-2E06-994C-B8DC-7648717CFD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300" y="5762644"/>
            <a:ext cx="2800350" cy="40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96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5DEC-7687-FFB0-4D95-33D5088D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EED37E5-45BA-18EA-C116-9F2874A508B5}"/>
              </a:ext>
            </a:extLst>
          </p:cNvPr>
          <p:cNvSpPr txBox="1"/>
          <p:nvPr/>
        </p:nvSpPr>
        <p:spPr>
          <a:xfrm>
            <a:off x="1430600" y="806431"/>
            <a:ext cx="4921818" cy="656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</a:t>
            </a:r>
            <a:r>
              <a:rPr lang="en-US" sz="1600" b="1" dirty="0" err="1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prova</a:t>
            </a:r>
            <a:r>
              <a:rPr lang="en-US" sz="16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avalia</a:t>
            </a:r>
            <a:r>
              <a:rPr lang="en-US" sz="16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exclusivamente</a:t>
            </a:r>
            <a:r>
              <a:rPr lang="en-US" sz="16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Língua</a:t>
            </a:r>
            <a:r>
              <a:rPr lang="en-US" sz="16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Portuguesa.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cobrindo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leitura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localização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informação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e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escrita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Gráfico 4" descr="Livros com preenchimento sólido">
            <a:extLst>
              <a:ext uri="{FF2B5EF4-FFF2-40B4-BE49-F238E27FC236}">
                <a16:creationId xmlns:a16="http://schemas.microsoft.com/office/drawing/2014/main" id="{71E32564-842B-D713-AACC-86CBDD2B5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131" y="735411"/>
            <a:ext cx="914400" cy="9144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B96B52B-E13D-361F-8D42-C58EAAFA0F22}"/>
              </a:ext>
            </a:extLst>
          </p:cNvPr>
          <p:cNvSpPr txBox="1"/>
          <p:nvPr/>
        </p:nvSpPr>
        <p:spPr>
          <a:xfrm>
            <a:off x="8323000" y="870134"/>
            <a:ext cx="2438400" cy="591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Corte </a:t>
            </a:r>
            <a:r>
              <a:rPr lang="en-US" sz="1600" b="1" dirty="0" err="1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oficial</a:t>
            </a:r>
            <a:r>
              <a:rPr lang="en-US" sz="16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: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743 </a:t>
            </a:r>
            <a:r>
              <a:rPr lang="en-US" sz="1600" b="1" dirty="0" err="1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pontos</a:t>
            </a:r>
            <a:r>
              <a:rPr lang="en-US" sz="16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(Saeb*)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Gráfico 8" descr="Área de Transferência com preenchimento sólido">
            <a:extLst>
              <a:ext uri="{FF2B5EF4-FFF2-40B4-BE49-F238E27FC236}">
                <a16:creationId xmlns:a16="http://schemas.microsoft.com/office/drawing/2014/main" id="{58604BC5-B19B-F8B9-2F08-9DA93173A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4194" y="735411"/>
            <a:ext cx="914400" cy="9144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9667BD-FF57-AA9C-745E-40FA1AE3B23E}"/>
              </a:ext>
            </a:extLst>
          </p:cNvPr>
          <p:cNvSpPr txBox="1"/>
          <p:nvPr/>
        </p:nvSpPr>
        <p:spPr>
          <a:xfrm>
            <a:off x="8264261" y="1479647"/>
            <a:ext cx="40195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400" dirty="0">
                <a:latin typeface="Cambria" panose="02040503050406030204" pitchFamily="18" charset="0"/>
                <a:ea typeface="Cambria" panose="02040503050406030204" pitchFamily="18" charset="0"/>
              </a:rPr>
              <a:t>*Sistema de Avaliação da Educação Básica (Saeb)</a:t>
            </a:r>
            <a:r>
              <a:rPr lang="pt-BR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Aptos" panose="020B0004020202020204" pitchFamily="34" charset="0"/>
              </a:rPr>
              <a:t> 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5C2BCB0E-3BD7-065A-D5DB-B6DAB6995012}"/>
              </a:ext>
            </a:extLst>
          </p:cNvPr>
          <p:cNvSpPr/>
          <p:nvPr/>
        </p:nvSpPr>
        <p:spPr>
          <a:xfrm>
            <a:off x="393131" y="2762431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err="1">
                <a:solidFill>
                  <a:srgbClr val="0F2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r>
              <a:rPr lang="en-US" sz="20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 </a:t>
            </a:r>
            <a:r>
              <a:rPr lang="en-US" sz="2000" b="1" dirty="0" err="1">
                <a:solidFill>
                  <a:srgbClr val="0F2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Níveis</a:t>
            </a:r>
            <a:r>
              <a:rPr lang="en-US" sz="20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Desempenho e a Meta de 2030</a:t>
            </a:r>
            <a:endParaRPr lang="en-US" sz="20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90325FA2-8524-4240-C9AF-CD23C7DAEB01}"/>
              </a:ext>
            </a:extLst>
          </p:cNvPr>
          <p:cNvSpPr/>
          <p:nvPr/>
        </p:nvSpPr>
        <p:spPr>
          <a:xfrm>
            <a:off x="393131" y="3447013"/>
            <a:ext cx="4425696" cy="8229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B891A123-E6BC-50AC-185E-DC7CDC2E85A3}"/>
              </a:ext>
            </a:extLst>
          </p:cNvPr>
          <p:cNvSpPr/>
          <p:nvPr/>
        </p:nvSpPr>
        <p:spPr>
          <a:xfrm>
            <a:off x="393131" y="4285975"/>
            <a:ext cx="4425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Abaixo do Nível 1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13C71056-380D-93D3-B450-66B31072F3EE}"/>
              </a:ext>
            </a:extLst>
          </p:cNvPr>
          <p:cNvSpPr/>
          <p:nvPr/>
        </p:nvSpPr>
        <p:spPr>
          <a:xfrm>
            <a:off x="393131" y="4532863"/>
            <a:ext cx="4425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até 40%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58DD21F6-E6E2-88B6-1E3A-4E57E23D1E0C}"/>
              </a:ext>
            </a:extLst>
          </p:cNvPr>
          <p:cNvSpPr/>
          <p:nvPr/>
        </p:nvSpPr>
        <p:spPr>
          <a:xfrm>
            <a:off x="4818827" y="3447013"/>
            <a:ext cx="1106424" cy="8229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8607F09-E856-8059-36AA-4787FCB41AB3}"/>
              </a:ext>
            </a:extLst>
          </p:cNvPr>
          <p:cNvSpPr/>
          <p:nvPr/>
        </p:nvSpPr>
        <p:spPr>
          <a:xfrm>
            <a:off x="4818827" y="4285975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Nível 1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726BF97E-BB4D-AA41-FC5F-518BEB495360}"/>
              </a:ext>
            </a:extLst>
          </p:cNvPr>
          <p:cNvSpPr/>
          <p:nvPr/>
        </p:nvSpPr>
        <p:spPr>
          <a:xfrm>
            <a:off x="4818827" y="4532863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40–50%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8E445941-4F13-DD28-FAC6-45BD7A66E997}"/>
              </a:ext>
            </a:extLst>
          </p:cNvPr>
          <p:cNvSpPr/>
          <p:nvPr/>
        </p:nvSpPr>
        <p:spPr>
          <a:xfrm>
            <a:off x="5925251" y="3447013"/>
            <a:ext cx="1106424" cy="8229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2175094-6059-47D8-99A5-4961488DC0F9}"/>
              </a:ext>
            </a:extLst>
          </p:cNvPr>
          <p:cNvSpPr/>
          <p:nvPr/>
        </p:nvSpPr>
        <p:spPr>
          <a:xfrm>
            <a:off x="5925251" y="4285975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Nível 2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02892AF-1D6B-BC12-E667-C67E393EEEFE}"/>
              </a:ext>
            </a:extLst>
          </p:cNvPr>
          <p:cNvSpPr/>
          <p:nvPr/>
        </p:nvSpPr>
        <p:spPr>
          <a:xfrm>
            <a:off x="5925251" y="4532863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50–60%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60DBACB4-CFF1-ABAB-5042-4C59BD4304A1}"/>
              </a:ext>
            </a:extLst>
          </p:cNvPr>
          <p:cNvSpPr/>
          <p:nvPr/>
        </p:nvSpPr>
        <p:spPr>
          <a:xfrm>
            <a:off x="7031675" y="3447013"/>
            <a:ext cx="1106424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61B7E12E-9399-12FB-D18E-C046C3F129E5}"/>
              </a:ext>
            </a:extLst>
          </p:cNvPr>
          <p:cNvSpPr/>
          <p:nvPr/>
        </p:nvSpPr>
        <p:spPr>
          <a:xfrm>
            <a:off x="7031675" y="4285975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Nível 3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B6F8CE08-2EED-F365-3B01-5319FB77B795}"/>
              </a:ext>
            </a:extLst>
          </p:cNvPr>
          <p:cNvSpPr/>
          <p:nvPr/>
        </p:nvSpPr>
        <p:spPr>
          <a:xfrm>
            <a:off x="7031675" y="4532863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60–70%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A908065F-C7A7-2AF8-0E84-95DF93E3F45A}"/>
              </a:ext>
            </a:extLst>
          </p:cNvPr>
          <p:cNvSpPr/>
          <p:nvPr/>
        </p:nvSpPr>
        <p:spPr>
          <a:xfrm>
            <a:off x="8138099" y="3447013"/>
            <a:ext cx="1106424" cy="82296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C8C65497-7704-4DD0-FB93-7DE473913B6B}"/>
              </a:ext>
            </a:extLst>
          </p:cNvPr>
          <p:cNvSpPr/>
          <p:nvPr/>
        </p:nvSpPr>
        <p:spPr>
          <a:xfrm>
            <a:off x="8138099" y="4285975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Nível 4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5953B28-93CC-9164-D4BD-1B9540E5B959}"/>
              </a:ext>
            </a:extLst>
          </p:cNvPr>
          <p:cNvSpPr/>
          <p:nvPr/>
        </p:nvSpPr>
        <p:spPr>
          <a:xfrm>
            <a:off x="8138099" y="4532863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70–80%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47ABA866-D999-9B62-E513-9A7057F38421}"/>
              </a:ext>
            </a:extLst>
          </p:cNvPr>
          <p:cNvSpPr/>
          <p:nvPr/>
        </p:nvSpPr>
        <p:spPr>
          <a:xfrm>
            <a:off x="9244523" y="3447013"/>
            <a:ext cx="2212848" cy="82296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B224A892-BE18-C700-7876-042819B77BF1}"/>
              </a:ext>
            </a:extLst>
          </p:cNvPr>
          <p:cNvSpPr/>
          <p:nvPr/>
        </p:nvSpPr>
        <p:spPr>
          <a:xfrm>
            <a:off x="9244523" y="4285975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Nível 5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E2AD42B5-0416-CBE0-314F-1EF47F1C080A}"/>
              </a:ext>
            </a:extLst>
          </p:cNvPr>
          <p:cNvSpPr/>
          <p:nvPr/>
        </p:nvSpPr>
        <p:spPr>
          <a:xfrm>
            <a:off x="9276913" y="4546579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acima de 80%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5" name="Text 22">
            <a:extLst>
              <a:ext uri="{FF2B5EF4-FFF2-40B4-BE49-F238E27FC236}">
                <a16:creationId xmlns:a16="http://schemas.microsoft.com/office/drawing/2014/main" id="{B3D62042-CDE8-2DFD-0996-FB745945D89F}"/>
              </a:ext>
            </a:extLst>
          </p:cNvPr>
          <p:cNvSpPr/>
          <p:nvPr/>
        </p:nvSpPr>
        <p:spPr>
          <a:xfrm>
            <a:off x="8448680" y="2307643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Meta 2030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80%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6" name="Gráfico 95" descr="Na mosca estrutura de tópicos">
            <a:extLst>
              <a:ext uri="{FF2B5EF4-FFF2-40B4-BE49-F238E27FC236}">
                <a16:creationId xmlns:a16="http://schemas.microsoft.com/office/drawing/2014/main" id="{8A118A34-7E9C-885C-3603-F95F24FF1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3652" y="2572383"/>
            <a:ext cx="455976" cy="45597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5F14F86-40A8-B212-38F4-A7D5C85AB5E4}"/>
              </a:ext>
            </a:extLst>
          </p:cNvPr>
          <p:cNvSpPr txBox="1"/>
          <p:nvPr/>
        </p:nvSpPr>
        <p:spPr>
          <a:xfrm>
            <a:off x="42235" y="-2975"/>
            <a:ext cx="12556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Problema de Negócio - </a:t>
            </a:r>
            <a:r>
              <a:rPr lang="pt-BR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Níveis oficiais de acompanhamento do Indicador Criança Alfabetizada</a:t>
            </a:r>
          </a:p>
          <a:p>
            <a:pPr marL="0" indent="0">
              <a:buNone/>
            </a:pPr>
            <a:r>
              <a:rPr lang="en-US" sz="1800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EDB6FA1-F159-4CA8-8D32-F65CC5DEA1F0}"/>
              </a:ext>
            </a:extLst>
          </p:cNvPr>
          <p:cNvCxnSpPr>
            <a:cxnSpLocks/>
          </p:cNvCxnSpPr>
          <p:nvPr/>
        </p:nvCxnSpPr>
        <p:spPr>
          <a:xfrm>
            <a:off x="9252590" y="3028359"/>
            <a:ext cx="5273" cy="165538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Subtítulo 2">
            <a:extLst>
              <a:ext uri="{FF2B5EF4-FFF2-40B4-BE49-F238E27FC236}">
                <a16:creationId xmlns:a16="http://schemas.microsoft.com/office/drawing/2014/main" id="{91040051-91EC-7804-805E-F96A9E3F6547}"/>
              </a:ext>
            </a:extLst>
          </p:cNvPr>
          <p:cNvSpPr txBox="1">
            <a:spLocks/>
          </p:cNvSpPr>
          <p:nvPr/>
        </p:nvSpPr>
        <p:spPr>
          <a:xfrm>
            <a:off x="19050" y="6431219"/>
            <a:ext cx="3635925" cy="456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pt-BR" sz="1600" dirty="0">
                <a:solidFill>
                  <a:schemeClr val="bg1"/>
                </a:solidFill>
              </a:rPr>
              <a:t>FIAP Tech </a:t>
            </a:r>
            <a:r>
              <a:rPr lang="pt-BR" sz="1600" dirty="0" err="1">
                <a:solidFill>
                  <a:schemeClr val="bg1"/>
                </a:solidFill>
              </a:rPr>
              <a:t>challenge</a:t>
            </a:r>
            <a:r>
              <a:rPr lang="pt-BR" sz="1600" dirty="0">
                <a:solidFill>
                  <a:schemeClr val="bg1"/>
                </a:solidFill>
              </a:rPr>
              <a:t> fase 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A5F186-E274-C598-4D87-D6F4CAAACDCF}"/>
              </a:ext>
            </a:extLst>
          </p:cNvPr>
          <p:cNvSpPr txBox="1"/>
          <p:nvPr/>
        </p:nvSpPr>
        <p:spPr>
          <a:xfrm>
            <a:off x="393131" y="5464646"/>
            <a:ext cx="113064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Cambria" panose="02040503050406030204" pitchFamily="18" charset="0"/>
                <a:ea typeface="Cambria" panose="02040503050406030204" pitchFamily="18" charset="0"/>
              </a:rPr>
              <a:t>Nota: </a:t>
            </a:r>
            <a:r>
              <a:rPr lang="pt-BR" sz="1400" b="1" dirty="0">
                <a:latin typeface="Cambria" panose="02040503050406030204" pitchFamily="18" charset="0"/>
                <a:ea typeface="Cambria" panose="02040503050406030204" pitchFamily="18" charset="0"/>
              </a:rPr>
              <a:t>níveis de 1 a 5 referem-se ao indicador de alfabetização por município/UF (meta interna: Faixa 5 ≥80%), </a:t>
            </a:r>
            <a:r>
              <a:rPr lang="pt-BR" sz="1400" dirty="0">
                <a:latin typeface="Cambria" panose="02040503050406030204" pitchFamily="18" charset="0"/>
                <a:ea typeface="Cambria" panose="02040503050406030204" pitchFamily="18" charset="0"/>
              </a:rPr>
              <a:t>não à escala de proficiência do Saeb (Níveis de 1 a 8 dos alunos). Fonte: Inep – Ministério da Educação.</a:t>
            </a:r>
          </a:p>
        </p:txBody>
      </p:sp>
    </p:spTree>
    <p:extLst>
      <p:ext uri="{BB962C8B-B14F-4D97-AF65-F5344CB8AC3E}">
        <p14:creationId xmlns:p14="http://schemas.microsoft.com/office/powerpoint/2010/main" val="240195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24">
            <a:extLst>
              <a:ext uri="{FF2B5EF4-FFF2-40B4-BE49-F238E27FC236}">
                <a16:creationId xmlns:a16="http://schemas.microsoft.com/office/drawing/2014/main" id="{55C2EDEA-0EA5-CE9F-C5AF-8CC6A308BD44}"/>
              </a:ext>
            </a:extLst>
          </p:cNvPr>
          <p:cNvSpPr/>
          <p:nvPr/>
        </p:nvSpPr>
        <p:spPr>
          <a:xfrm>
            <a:off x="1839839" y="1379758"/>
            <a:ext cx="1197293" cy="901065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AC1514C4-1BCD-0A00-D267-CEC26A51939D}"/>
              </a:ext>
            </a:extLst>
          </p:cNvPr>
          <p:cNvSpPr/>
          <p:nvPr/>
        </p:nvSpPr>
        <p:spPr>
          <a:xfrm>
            <a:off x="499010" y="905087"/>
            <a:ext cx="4865371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Taxa de Alfabetização </a:t>
            </a:r>
            <a:r>
              <a:rPr lang="en-US" sz="2000" b="1" dirty="0" err="1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Brasil</a:t>
            </a:r>
            <a:endParaRPr lang="en-US" sz="2000" i="1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</p:txBody>
      </p:sp>
      <p:sp>
        <p:nvSpPr>
          <p:cNvPr id="36" name="Shape 24">
            <a:extLst>
              <a:ext uri="{FF2B5EF4-FFF2-40B4-BE49-F238E27FC236}">
                <a16:creationId xmlns:a16="http://schemas.microsoft.com/office/drawing/2014/main" id="{3A285D0E-81E9-0237-0408-0F260B5337B1}"/>
              </a:ext>
            </a:extLst>
          </p:cNvPr>
          <p:cNvSpPr/>
          <p:nvPr/>
        </p:nvSpPr>
        <p:spPr>
          <a:xfrm>
            <a:off x="518059" y="1385770"/>
            <a:ext cx="1197293" cy="901065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D1803403-E034-24CC-EFE6-5547836C4B9A}"/>
              </a:ext>
            </a:extLst>
          </p:cNvPr>
          <p:cNvSpPr/>
          <p:nvPr/>
        </p:nvSpPr>
        <p:spPr>
          <a:xfrm>
            <a:off x="499010" y="1610171"/>
            <a:ext cx="1197293" cy="410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55,9%</a:t>
            </a:r>
            <a:endParaRPr lang="en-US" sz="2400" dirty="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F6552644-71B9-1147-4BB9-C3702066479A}"/>
              </a:ext>
            </a:extLst>
          </p:cNvPr>
          <p:cNvSpPr/>
          <p:nvPr/>
        </p:nvSpPr>
        <p:spPr>
          <a:xfrm>
            <a:off x="499010" y="1316863"/>
            <a:ext cx="119729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2023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8A49E34D-7941-C8BD-DDFC-881712647048}"/>
              </a:ext>
            </a:extLst>
          </p:cNvPr>
          <p:cNvSpPr/>
          <p:nvPr/>
        </p:nvSpPr>
        <p:spPr>
          <a:xfrm>
            <a:off x="1846324" y="1638386"/>
            <a:ext cx="1184525" cy="410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59,2%</a:t>
            </a:r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E5F27985-2BE5-308A-3E63-400C401EF827}"/>
              </a:ext>
            </a:extLst>
          </p:cNvPr>
          <p:cNvSpPr/>
          <p:nvPr/>
        </p:nvSpPr>
        <p:spPr>
          <a:xfrm>
            <a:off x="1721629" y="1279147"/>
            <a:ext cx="138779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2024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011FDF3A-8082-8B3F-5D10-E22A45CB5575}"/>
              </a:ext>
            </a:extLst>
          </p:cNvPr>
          <p:cNvSpPr/>
          <p:nvPr/>
        </p:nvSpPr>
        <p:spPr>
          <a:xfrm>
            <a:off x="518059" y="2753302"/>
            <a:ext cx="10890839" cy="104101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i="1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participação dos estudantes do 2º ano da rede pública variou entre as </a:t>
            </a:r>
            <a:r>
              <a:rPr lang="pt-BR" sz="1600" i="1" dirty="0" err="1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UFs</a:t>
            </a:r>
            <a:r>
              <a:rPr lang="pt-BR" sz="1600" i="1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nos anos analisados.</a:t>
            </a:r>
          </a:p>
          <a:p>
            <a:endParaRPr lang="en-US" sz="1600" i="1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pt-BR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Em 2025, a participação nacional dos estudantes na avaliação alcançou 88%.</a:t>
            </a:r>
            <a:endParaRPr lang="en-US" b="1" dirty="0">
              <a:solidFill>
                <a:srgbClr val="0F2846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0A4576C9-ECE9-A8D8-34DD-C09D2006DC1E}"/>
              </a:ext>
            </a:extLst>
          </p:cNvPr>
          <p:cNvSpPr txBox="1"/>
          <p:nvPr/>
        </p:nvSpPr>
        <p:spPr>
          <a:xfrm>
            <a:off x="1821451" y="2017187"/>
            <a:ext cx="12156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</a:rPr>
              <a:t>Meta: 59,9%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70" name="Shape 24">
            <a:extLst>
              <a:ext uri="{FF2B5EF4-FFF2-40B4-BE49-F238E27FC236}">
                <a16:creationId xmlns:a16="http://schemas.microsoft.com/office/drawing/2014/main" id="{41E97682-DC6E-1B39-4A6E-F3326C2D2A5E}"/>
              </a:ext>
            </a:extLst>
          </p:cNvPr>
          <p:cNvSpPr/>
          <p:nvPr/>
        </p:nvSpPr>
        <p:spPr>
          <a:xfrm>
            <a:off x="3174385" y="1393516"/>
            <a:ext cx="1197293" cy="901065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1" name="Text 25">
            <a:extLst>
              <a:ext uri="{FF2B5EF4-FFF2-40B4-BE49-F238E27FC236}">
                <a16:creationId xmlns:a16="http://schemas.microsoft.com/office/drawing/2014/main" id="{8B52B02C-A88D-3F1A-332D-AD7484C589C6}"/>
              </a:ext>
            </a:extLst>
          </p:cNvPr>
          <p:cNvSpPr/>
          <p:nvPr/>
        </p:nvSpPr>
        <p:spPr>
          <a:xfrm>
            <a:off x="3180870" y="1652144"/>
            <a:ext cx="1184525" cy="410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66%</a:t>
            </a: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8CE5A529-5F6C-CF8E-A7DF-38CB343F020A}"/>
              </a:ext>
            </a:extLst>
          </p:cNvPr>
          <p:cNvSpPr/>
          <p:nvPr/>
        </p:nvSpPr>
        <p:spPr>
          <a:xfrm>
            <a:off x="3053419" y="1283507"/>
            <a:ext cx="138779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2025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C9525D97-1061-200A-F0B0-D19B2DE07BF5}"/>
              </a:ext>
            </a:extLst>
          </p:cNvPr>
          <p:cNvSpPr txBox="1"/>
          <p:nvPr/>
        </p:nvSpPr>
        <p:spPr>
          <a:xfrm>
            <a:off x="3155998" y="2030945"/>
            <a:ext cx="12093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</a:rPr>
              <a:t>Meta: 64%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74" name="Shape 24">
            <a:extLst>
              <a:ext uri="{FF2B5EF4-FFF2-40B4-BE49-F238E27FC236}">
                <a16:creationId xmlns:a16="http://schemas.microsoft.com/office/drawing/2014/main" id="{14371D06-9748-85B8-F205-0C13FC51BDBD}"/>
              </a:ext>
            </a:extLst>
          </p:cNvPr>
          <p:cNvSpPr/>
          <p:nvPr/>
        </p:nvSpPr>
        <p:spPr>
          <a:xfrm>
            <a:off x="4509882" y="1375173"/>
            <a:ext cx="1197293" cy="901065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5" name="Text 25">
            <a:extLst>
              <a:ext uri="{FF2B5EF4-FFF2-40B4-BE49-F238E27FC236}">
                <a16:creationId xmlns:a16="http://schemas.microsoft.com/office/drawing/2014/main" id="{CE64E46D-338E-A64B-6B7C-63FD032A5672}"/>
              </a:ext>
            </a:extLst>
          </p:cNvPr>
          <p:cNvSpPr/>
          <p:nvPr/>
        </p:nvSpPr>
        <p:spPr>
          <a:xfrm>
            <a:off x="4516367" y="1633801"/>
            <a:ext cx="1184525" cy="410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-%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BA06A7FC-AA98-9C27-399C-1EC1CAC00F08}"/>
              </a:ext>
            </a:extLst>
          </p:cNvPr>
          <p:cNvSpPr txBox="1"/>
          <p:nvPr/>
        </p:nvSpPr>
        <p:spPr>
          <a:xfrm>
            <a:off x="4491495" y="2012602"/>
            <a:ext cx="12093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</a:rPr>
              <a:t>Meta: 67%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77" name="Shape 24">
            <a:extLst>
              <a:ext uri="{FF2B5EF4-FFF2-40B4-BE49-F238E27FC236}">
                <a16:creationId xmlns:a16="http://schemas.microsoft.com/office/drawing/2014/main" id="{E2E8686A-11C9-3EBA-68BF-42D800B3012F}"/>
              </a:ext>
            </a:extLst>
          </p:cNvPr>
          <p:cNvSpPr/>
          <p:nvPr/>
        </p:nvSpPr>
        <p:spPr>
          <a:xfrm>
            <a:off x="5857484" y="1385770"/>
            <a:ext cx="1197293" cy="901065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695EAE22-B396-BB56-CD31-0923203B111D}"/>
              </a:ext>
            </a:extLst>
          </p:cNvPr>
          <p:cNvSpPr/>
          <p:nvPr/>
        </p:nvSpPr>
        <p:spPr>
          <a:xfrm>
            <a:off x="5863969" y="1644398"/>
            <a:ext cx="1184525" cy="410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-%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E3A3801E-8FB0-E966-47B1-084FF798C728}"/>
              </a:ext>
            </a:extLst>
          </p:cNvPr>
          <p:cNvSpPr txBox="1"/>
          <p:nvPr/>
        </p:nvSpPr>
        <p:spPr>
          <a:xfrm>
            <a:off x="5839097" y="2023199"/>
            <a:ext cx="12093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</a:rPr>
              <a:t>Meta: 71%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9722F85E-7233-A46B-A60A-836797E78BB0}"/>
              </a:ext>
            </a:extLst>
          </p:cNvPr>
          <p:cNvSpPr/>
          <p:nvPr/>
        </p:nvSpPr>
        <p:spPr>
          <a:xfrm>
            <a:off x="7168311" y="1393516"/>
            <a:ext cx="1197293" cy="901065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D520560F-9D1F-4B16-EDB7-898DC2069FE2}"/>
              </a:ext>
            </a:extLst>
          </p:cNvPr>
          <p:cNvSpPr/>
          <p:nvPr/>
        </p:nvSpPr>
        <p:spPr>
          <a:xfrm>
            <a:off x="7174796" y="1652144"/>
            <a:ext cx="1184525" cy="410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- %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D5FF4ADC-360B-2B47-5602-830578AA1E4B}"/>
              </a:ext>
            </a:extLst>
          </p:cNvPr>
          <p:cNvSpPr txBox="1"/>
          <p:nvPr/>
        </p:nvSpPr>
        <p:spPr>
          <a:xfrm>
            <a:off x="7149924" y="2030945"/>
            <a:ext cx="12093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</a:rPr>
              <a:t>Meta: 74%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0D9CA50A-881C-8D84-DBA0-011C748C5FF1}"/>
              </a:ext>
            </a:extLst>
          </p:cNvPr>
          <p:cNvSpPr/>
          <p:nvPr/>
        </p:nvSpPr>
        <p:spPr>
          <a:xfrm>
            <a:off x="8493439" y="1375173"/>
            <a:ext cx="1197293" cy="901065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66219B48-7864-F24B-285B-3F35A5558DFB}"/>
              </a:ext>
            </a:extLst>
          </p:cNvPr>
          <p:cNvSpPr/>
          <p:nvPr/>
        </p:nvSpPr>
        <p:spPr>
          <a:xfrm>
            <a:off x="8499924" y="1633801"/>
            <a:ext cx="1184525" cy="410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-%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F3ED4F8-B460-2A41-27AA-4D17BDC3375C}"/>
              </a:ext>
            </a:extLst>
          </p:cNvPr>
          <p:cNvSpPr txBox="1"/>
          <p:nvPr/>
        </p:nvSpPr>
        <p:spPr>
          <a:xfrm>
            <a:off x="8475052" y="2012602"/>
            <a:ext cx="12093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</a:rPr>
              <a:t>Meta: 77%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86" name="Shape 24">
            <a:extLst>
              <a:ext uri="{FF2B5EF4-FFF2-40B4-BE49-F238E27FC236}">
                <a16:creationId xmlns:a16="http://schemas.microsoft.com/office/drawing/2014/main" id="{E81DD09B-364C-7C18-405D-CE2392D6C338}"/>
              </a:ext>
            </a:extLst>
          </p:cNvPr>
          <p:cNvSpPr/>
          <p:nvPr/>
        </p:nvSpPr>
        <p:spPr>
          <a:xfrm>
            <a:off x="9804266" y="1361810"/>
            <a:ext cx="1197293" cy="901065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7" name="Text 25">
            <a:extLst>
              <a:ext uri="{FF2B5EF4-FFF2-40B4-BE49-F238E27FC236}">
                <a16:creationId xmlns:a16="http://schemas.microsoft.com/office/drawing/2014/main" id="{FBD12E86-E773-9561-92EF-722B3580D617}"/>
              </a:ext>
            </a:extLst>
          </p:cNvPr>
          <p:cNvSpPr/>
          <p:nvPr/>
        </p:nvSpPr>
        <p:spPr>
          <a:xfrm>
            <a:off x="9810751" y="1620438"/>
            <a:ext cx="1184525" cy="410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-%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3ADD747D-E6F0-F65F-74B2-0C55A1884607}"/>
              </a:ext>
            </a:extLst>
          </p:cNvPr>
          <p:cNvSpPr txBox="1"/>
          <p:nvPr/>
        </p:nvSpPr>
        <p:spPr>
          <a:xfrm>
            <a:off x="9681201" y="1953326"/>
            <a:ext cx="14434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009900"/>
                </a:solidFill>
                <a:latin typeface="Cambria" pitchFamily="34" charset="0"/>
                <a:ea typeface="Cambria" pitchFamily="34" charset="-122"/>
              </a:rPr>
              <a:t>Meta: 80%</a:t>
            </a:r>
            <a:endParaRPr lang="pt-BR" sz="1600" dirty="0">
              <a:solidFill>
                <a:srgbClr val="009900"/>
              </a:solidFill>
            </a:endParaRPr>
          </a:p>
        </p:txBody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5C9C8DC7-E35D-CE57-EF54-AE1F0B31D63F}"/>
              </a:ext>
            </a:extLst>
          </p:cNvPr>
          <p:cNvSpPr/>
          <p:nvPr/>
        </p:nvSpPr>
        <p:spPr>
          <a:xfrm>
            <a:off x="4362639" y="1272626"/>
            <a:ext cx="138779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2026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Text 26">
            <a:extLst>
              <a:ext uri="{FF2B5EF4-FFF2-40B4-BE49-F238E27FC236}">
                <a16:creationId xmlns:a16="http://schemas.microsoft.com/office/drawing/2014/main" id="{3A38D7E0-E844-BA96-B111-EDC2CE84A156}"/>
              </a:ext>
            </a:extLst>
          </p:cNvPr>
          <p:cNvSpPr/>
          <p:nvPr/>
        </p:nvSpPr>
        <p:spPr>
          <a:xfrm>
            <a:off x="5750988" y="1272626"/>
            <a:ext cx="138779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2027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1" name="Text 26">
            <a:extLst>
              <a:ext uri="{FF2B5EF4-FFF2-40B4-BE49-F238E27FC236}">
                <a16:creationId xmlns:a16="http://schemas.microsoft.com/office/drawing/2014/main" id="{CE6CDEB9-6502-3DC7-CA28-138308C6F383}"/>
              </a:ext>
            </a:extLst>
          </p:cNvPr>
          <p:cNvSpPr/>
          <p:nvPr/>
        </p:nvSpPr>
        <p:spPr>
          <a:xfrm>
            <a:off x="7174796" y="1264572"/>
            <a:ext cx="12050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2028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467F7F0D-8A39-FD38-08F7-873932E93DA2}"/>
              </a:ext>
            </a:extLst>
          </p:cNvPr>
          <p:cNvSpPr/>
          <p:nvPr/>
        </p:nvSpPr>
        <p:spPr>
          <a:xfrm>
            <a:off x="8506491" y="1275089"/>
            <a:ext cx="12050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2029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3" name="Text 26">
            <a:extLst>
              <a:ext uri="{FF2B5EF4-FFF2-40B4-BE49-F238E27FC236}">
                <a16:creationId xmlns:a16="http://schemas.microsoft.com/office/drawing/2014/main" id="{295B58BA-F73F-1602-2E1B-CE4C7575F954}"/>
              </a:ext>
            </a:extLst>
          </p:cNvPr>
          <p:cNvSpPr/>
          <p:nvPr/>
        </p:nvSpPr>
        <p:spPr>
          <a:xfrm>
            <a:off x="9810751" y="1263716"/>
            <a:ext cx="12050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2030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48164D9C-0A44-86CF-BDC8-02472F8F9F79}"/>
              </a:ext>
            </a:extLst>
          </p:cNvPr>
          <p:cNvSpPr txBox="1"/>
          <p:nvPr/>
        </p:nvSpPr>
        <p:spPr>
          <a:xfrm>
            <a:off x="480334" y="2009836"/>
            <a:ext cx="12156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</a:rPr>
              <a:t>Meta: - %</a:t>
            </a:r>
            <a:endParaRPr lang="pt-BR" sz="1200" dirty="0">
              <a:solidFill>
                <a:srgbClr val="00B050"/>
              </a:solidFill>
            </a:endParaRPr>
          </a:p>
        </p:txBody>
      </p:sp>
      <p:pic>
        <p:nvPicPr>
          <p:cNvPr id="97" name="Gráfico 96" descr="Na mosca estrutura de tópicos">
            <a:extLst>
              <a:ext uri="{FF2B5EF4-FFF2-40B4-BE49-F238E27FC236}">
                <a16:creationId xmlns:a16="http://schemas.microsoft.com/office/drawing/2014/main" id="{834539F6-C58C-372F-1714-4101413B79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9035" y="1210214"/>
            <a:ext cx="455976" cy="45597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E4A0D29-2073-99ED-E91B-2BD638433D8C}"/>
              </a:ext>
            </a:extLst>
          </p:cNvPr>
          <p:cNvSpPr txBox="1"/>
          <p:nvPr/>
        </p:nvSpPr>
        <p:spPr>
          <a:xfrm>
            <a:off x="42236" y="-29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Problema de Negócio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572CBE-3AB6-9C7D-5557-E7E1901A7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141" y="4563420"/>
            <a:ext cx="5931205" cy="1632034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504FFEA-55B7-67F8-F7FA-9FD5D27D6EB8}"/>
              </a:ext>
            </a:extLst>
          </p:cNvPr>
          <p:cNvSpPr txBox="1">
            <a:spLocks/>
          </p:cNvSpPr>
          <p:nvPr/>
        </p:nvSpPr>
        <p:spPr>
          <a:xfrm>
            <a:off x="19050" y="6431219"/>
            <a:ext cx="3635925" cy="456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pt-BR" sz="1600" dirty="0">
                <a:solidFill>
                  <a:schemeClr val="bg1"/>
                </a:solidFill>
              </a:rPr>
              <a:t>FIAP Tech </a:t>
            </a:r>
            <a:r>
              <a:rPr lang="pt-BR" sz="1600" dirty="0" err="1">
                <a:solidFill>
                  <a:schemeClr val="bg1"/>
                </a:solidFill>
              </a:rPr>
              <a:t>challenge</a:t>
            </a:r>
            <a:r>
              <a:rPr lang="pt-BR" sz="1600" dirty="0">
                <a:solidFill>
                  <a:schemeClr val="bg1"/>
                </a:solidFill>
              </a:rPr>
              <a:t> fase 2</a:t>
            </a:r>
          </a:p>
        </p:txBody>
      </p:sp>
    </p:spTree>
    <p:extLst>
      <p:ext uri="{BB962C8B-B14F-4D97-AF65-F5344CB8AC3E}">
        <p14:creationId xmlns:p14="http://schemas.microsoft.com/office/powerpoint/2010/main" val="427677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A6EAB74-17D9-EEDC-B54E-BA924D79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09" y="1220868"/>
            <a:ext cx="988701" cy="918080"/>
          </a:xfrm>
          <a:prstGeom prst="rect">
            <a:avLst/>
          </a:prstGeom>
        </p:spPr>
      </p:pic>
      <p:sp>
        <p:nvSpPr>
          <p:cNvPr id="6" name="Shape 7">
            <a:extLst>
              <a:ext uri="{FF2B5EF4-FFF2-40B4-BE49-F238E27FC236}">
                <a16:creationId xmlns:a16="http://schemas.microsoft.com/office/drawing/2014/main" id="{E9AE574B-A22A-DB49-46AA-DE49C3F354FB}"/>
              </a:ext>
            </a:extLst>
          </p:cNvPr>
          <p:cNvSpPr/>
          <p:nvPr/>
        </p:nvSpPr>
        <p:spPr>
          <a:xfrm>
            <a:off x="2908124" y="1279029"/>
            <a:ext cx="2266951" cy="771525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3836F0C0-21A8-42D6-C8CC-555700891EA6}"/>
              </a:ext>
            </a:extLst>
          </p:cNvPr>
          <p:cNvSpPr/>
          <p:nvPr/>
        </p:nvSpPr>
        <p:spPr>
          <a:xfrm>
            <a:off x="2908122" y="1164197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Meta Alfabetização Brasil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F91CAF86-99B4-4F4C-630D-029CB567A947}"/>
              </a:ext>
            </a:extLst>
          </p:cNvPr>
          <p:cNvSpPr/>
          <p:nvPr/>
        </p:nvSpPr>
        <p:spPr>
          <a:xfrm>
            <a:off x="2908122" y="1676261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Meta nacional consolidada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99613B3-C4E0-49D6-60C4-A0802EAA934A}"/>
              </a:ext>
            </a:extLst>
          </p:cNvPr>
          <p:cNvSpPr txBox="1"/>
          <p:nvPr/>
        </p:nvSpPr>
        <p:spPr>
          <a:xfrm>
            <a:off x="71572" y="83023"/>
            <a:ext cx="8181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Fontes de Dados Integradas pela Plataforma</a:t>
            </a:r>
            <a:endParaRPr lang="en-US" b="1" dirty="0">
              <a:solidFill>
                <a:srgbClr val="0F2846"/>
              </a:solidFill>
              <a:latin typeface="Cambria" pitchFamily="34" charset="0"/>
              <a:ea typeface="Cambria" pitchFamily="34" charset="-122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F0BEB3D-DAA7-FBA2-8663-2E5F93EF1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760" y="2323200"/>
            <a:ext cx="987819" cy="86817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53E0E23-6E79-0844-12B4-6EABE5C45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1262" y="3310758"/>
            <a:ext cx="987819" cy="979031"/>
          </a:xfrm>
          <a:prstGeom prst="rect">
            <a:avLst/>
          </a:prstGeom>
        </p:spPr>
      </p:pic>
      <p:pic>
        <p:nvPicPr>
          <p:cNvPr id="12" name="Picture 2" descr="Aluno - ícones de pessoas grátis">
            <a:extLst>
              <a:ext uri="{FF2B5EF4-FFF2-40B4-BE49-F238E27FC236}">
                <a16:creationId xmlns:a16="http://schemas.microsoft.com/office/drawing/2014/main" id="{C6782F53-1098-96CC-1890-A62053531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371" y="1329019"/>
            <a:ext cx="659386" cy="659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áfico 12" descr="Na mosca com preenchimento sólido">
            <a:extLst>
              <a:ext uri="{FF2B5EF4-FFF2-40B4-BE49-F238E27FC236}">
                <a16:creationId xmlns:a16="http://schemas.microsoft.com/office/drawing/2014/main" id="{0C5C46AA-91FA-6BE1-4D85-33C7B50A87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46095" y="1761954"/>
            <a:ext cx="313216" cy="313216"/>
          </a:xfrm>
          <a:prstGeom prst="rect">
            <a:avLst/>
          </a:prstGeom>
        </p:spPr>
      </p:pic>
      <p:pic>
        <p:nvPicPr>
          <p:cNvPr id="14" name="Gráfico 13" descr="Na mosca com preenchimento sólido">
            <a:extLst>
              <a:ext uri="{FF2B5EF4-FFF2-40B4-BE49-F238E27FC236}">
                <a16:creationId xmlns:a16="http://schemas.microsoft.com/office/drawing/2014/main" id="{F87BDE81-FBB8-86F4-798F-EEBE7BA156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64046" y="2838424"/>
            <a:ext cx="313216" cy="313216"/>
          </a:xfrm>
          <a:prstGeom prst="rect">
            <a:avLst/>
          </a:prstGeom>
        </p:spPr>
      </p:pic>
      <p:pic>
        <p:nvPicPr>
          <p:cNvPr id="15" name="Gráfico 14" descr="Na mosca com preenchimento sólido">
            <a:extLst>
              <a:ext uri="{FF2B5EF4-FFF2-40B4-BE49-F238E27FC236}">
                <a16:creationId xmlns:a16="http://schemas.microsoft.com/office/drawing/2014/main" id="{49727696-9F04-F442-F297-55B971D7C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70548" y="3812316"/>
            <a:ext cx="313216" cy="313216"/>
          </a:xfrm>
          <a:prstGeom prst="rect">
            <a:avLst/>
          </a:prstGeom>
        </p:spPr>
      </p:pic>
      <p:sp>
        <p:nvSpPr>
          <p:cNvPr id="16" name="Shape 7">
            <a:extLst>
              <a:ext uri="{FF2B5EF4-FFF2-40B4-BE49-F238E27FC236}">
                <a16:creationId xmlns:a16="http://schemas.microsoft.com/office/drawing/2014/main" id="{8F8882B3-789D-1CDA-B4D6-D51751C05E99}"/>
              </a:ext>
            </a:extLst>
          </p:cNvPr>
          <p:cNvSpPr/>
          <p:nvPr/>
        </p:nvSpPr>
        <p:spPr>
          <a:xfrm>
            <a:off x="2926073" y="2323200"/>
            <a:ext cx="2266951" cy="771525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CBD81C19-041C-6740-D8E9-9EB71ED5FCB0}"/>
              </a:ext>
            </a:extLst>
          </p:cNvPr>
          <p:cNvSpPr/>
          <p:nvPr/>
        </p:nvSpPr>
        <p:spPr>
          <a:xfrm>
            <a:off x="2932576" y="3414510"/>
            <a:ext cx="2266951" cy="771525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310DFDEA-D865-256C-8CB4-7261BBB2BA85}"/>
              </a:ext>
            </a:extLst>
          </p:cNvPr>
          <p:cNvSpPr/>
          <p:nvPr/>
        </p:nvSpPr>
        <p:spPr>
          <a:xfrm>
            <a:off x="2999253" y="32728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Meta por Município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36E3D83-8735-3F83-8177-33FA88DCFAD8}"/>
              </a:ext>
            </a:extLst>
          </p:cNvPr>
          <p:cNvSpPr/>
          <p:nvPr/>
        </p:nvSpPr>
        <p:spPr>
          <a:xfrm>
            <a:off x="2999253" y="37848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Metas municipais anuais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DE7108B9-F08B-C354-B66B-9726074A3E9A}"/>
              </a:ext>
            </a:extLst>
          </p:cNvPr>
          <p:cNvSpPr/>
          <p:nvPr/>
        </p:nvSpPr>
        <p:spPr>
          <a:xfrm>
            <a:off x="2926073" y="2171627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Meta por UF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19900933-8E0C-398D-061F-3E25526B988E}"/>
              </a:ext>
            </a:extLst>
          </p:cNvPr>
          <p:cNvSpPr/>
          <p:nvPr/>
        </p:nvSpPr>
        <p:spPr>
          <a:xfrm>
            <a:off x="2926073" y="2683691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Metas estaduais anuais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91626407-0B93-E5E1-D383-318433B02980}"/>
              </a:ext>
            </a:extLst>
          </p:cNvPr>
          <p:cNvSpPr/>
          <p:nvPr/>
        </p:nvSpPr>
        <p:spPr>
          <a:xfrm>
            <a:off x="6355216" y="2310119"/>
            <a:ext cx="2266951" cy="771525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F9003059-E1A1-AD41-7D47-F2C658BEC9EF}"/>
              </a:ext>
            </a:extLst>
          </p:cNvPr>
          <p:cNvSpPr/>
          <p:nvPr/>
        </p:nvSpPr>
        <p:spPr>
          <a:xfrm>
            <a:off x="6368266" y="3371700"/>
            <a:ext cx="2266951" cy="771525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12518A28-904D-6D55-AFFB-E9E447C49FF8}"/>
              </a:ext>
            </a:extLst>
          </p:cNvPr>
          <p:cNvSpPr/>
          <p:nvPr/>
        </p:nvSpPr>
        <p:spPr>
          <a:xfrm>
            <a:off x="6355216" y="1272950"/>
            <a:ext cx="3086410" cy="771525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0C9FFB46-6143-0081-3072-0F4A99E84941}"/>
              </a:ext>
            </a:extLst>
          </p:cNvPr>
          <p:cNvSpPr/>
          <p:nvPr/>
        </p:nvSpPr>
        <p:spPr>
          <a:xfrm>
            <a:off x="6398859" y="218078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UF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8E5DCE6-1B93-23C5-E5ED-836FEC468891}"/>
              </a:ext>
            </a:extLst>
          </p:cNvPr>
          <p:cNvSpPr/>
          <p:nvPr/>
        </p:nvSpPr>
        <p:spPr>
          <a:xfrm>
            <a:off x="6398859" y="2616611"/>
            <a:ext cx="226695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1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Taxas de alfabetização da rede pública por estado e rede</a:t>
            </a:r>
            <a:endParaRPr lang="en-US" sz="1100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9807CA73-A302-31E5-8548-041EFD974767}"/>
              </a:ext>
            </a:extLst>
          </p:cNvPr>
          <p:cNvSpPr/>
          <p:nvPr/>
        </p:nvSpPr>
        <p:spPr>
          <a:xfrm>
            <a:off x="6516118" y="3149997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Município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C09A1E37-5631-DDD7-A63A-7318FF2F1369}"/>
              </a:ext>
            </a:extLst>
          </p:cNvPr>
          <p:cNvSpPr/>
          <p:nvPr/>
        </p:nvSpPr>
        <p:spPr>
          <a:xfrm>
            <a:off x="6485425" y="3677756"/>
            <a:ext cx="2149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1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Taxas de alfabetização da rede pública por município e rede</a:t>
            </a:r>
            <a:endParaRPr lang="en-US" sz="1100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709E7FB-C6CC-D849-EE66-22F3F99CC1CB}"/>
              </a:ext>
            </a:extLst>
          </p:cNvPr>
          <p:cNvSpPr/>
          <p:nvPr/>
        </p:nvSpPr>
        <p:spPr>
          <a:xfrm>
            <a:off x="6406132" y="1092423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F284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Dados de Alunos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F3C2165-74F0-33B9-28DC-462A71897B21}"/>
              </a:ext>
            </a:extLst>
          </p:cNvPr>
          <p:cNvSpPr/>
          <p:nvPr/>
        </p:nvSpPr>
        <p:spPr>
          <a:xfrm>
            <a:off x="6355215" y="1603176"/>
            <a:ext cx="308641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1100" dirty="0">
                <a:solidFill>
                  <a:srgbClr val="64748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Microdados dos alunos participantes das avaliações de alfabetização censitárias no Brasil</a:t>
            </a:r>
            <a:endParaRPr lang="en-US" sz="1100" dirty="0">
              <a:solidFill>
                <a:srgbClr val="64748B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F3956FAF-2036-1F8B-BDFF-F48E2DB37E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2624" y="2365696"/>
            <a:ext cx="527697" cy="558496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EAED283-510A-A982-674A-3C4B66C631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6879" y="3410428"/>
            <a:ext cx="527697" cy="55849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88A0C8DC-FB64-4AAF-9485-4979D9E0B936}"/>
              </a:ext>
            </a:extLst>
          </p:cNvPr>
          <p:cNvSpPr txBox="1"/>
          <p:nvPr/>
        </p:nvSpPr>
        <p:spPr>
          <a:xfrm>
            <a:off x="71572" y="428224"/>
            <a:ext cx="11876587" cy="351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Compreender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os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fatores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que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influenciam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a alfabetização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exige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cruzar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diferentes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fontes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granularidades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e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frequências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</a:t>
            </a:r>
            <a:r>
              <a:rPr lang="en-US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atualização</a:t>
            </a: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: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E3FC58B-8A2D-2103-580A-50FC7C720828}"/>
              </a:ext>
            </a:extLst>
          </p:cNvPr>
          <p:cNvSpPr txBox="1"/>
          <p:nvPr/>
        </p:nvSpPr>
        <p:spPr>
          <a:xfrm>
            <a:off x="1335392" y="4677051"/>
            <a:ext cx="9988730" cy="1978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 err="1">
                <a:solidFill>
                  <a:srgbClr val="F5A62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Objetivo</a:t>
            </a:r>
            <a:r>
              <a:rPr lang="en-US" sz="2400" b="1" dirty="0">
                <a:solidFill>
                  <a:srgbClr val="F5A62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da </a:t>
            </a:r>
            <a:r>
              <a:rPr lang="en-US" sz="2400" b="1" dirty="0" err="1">
                <a:solidFill>
                  <a:srgbClr val="F5A623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Solução</a:t>
            </a:r>
            <a:endParaRPr lang="en-US" sz="2400" b="1" dirty="0">
              <a:solidFill>
                <a:srgbClr val="F5A623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Construir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um pipeline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híbrido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(Batch + Streaming) para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integrar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dados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educacionais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aplicar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qualidade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gerar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camada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analítica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e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apoiar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análises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políticas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públicas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Seguir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a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Arquitetura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Medalhão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(Bronze → Silver → Gold),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transformando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dados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brutos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em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um dataset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analítico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pronto para dashboards e </a:t>
            </a:r>
            <a:r>
              <a:rPr lang="en-US" sz="2000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modelos</a:t>
            </a:r>
            <a:r>
              <a:rPr lang="en-US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de Machine Learning.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7" name="Gráfico 36" descr="Foguete estrutura de tópicos">
            <a:extLst>
              <a:ext uri="{FF2B5EF4-FFF2-40B4-BE49-F238E27FC236}">
                <a16:creationId xmlns:a16="http://schemas.microsoft.com/office/drawing/2014/main" id="{9E09CE2E-F182-4AAF-4915-141C8B10F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4303" y="5351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757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m 87">
            <a:extLst>
              <a:ext uri="{FF2B5EF4-FFF2-40B4-BE49-F238E27FC236}">
                <a16:creationId xmlns:a16="http://schemas.microsoft.com/office/drawing/2014/main" id="{6C387D91-4C7B-B70B-538A-9BD43204A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051" y="4407886"/>
            <a:ext cx="412771" cy="228612"/>
          </a:xfrm>
          <a:prstGeom prst="rect">
            <a:avLst/>
          </a:prstGeom>
        </p:spPr>
      </p:pic>
      <p:sp>
        <p:nvSpPr>
          <p:cNvPr id="67" name="Retângulo 66">
            <a:extLst>
              <a:ext uri="{FF2B5EF4-FFF2-40B4-BE49-F238E27FC236}">
                <a16:creationId xmlns:a16="http://schemas.microsoft.com/office/drawing/2014/main" id="{E9A58E51-D07E-76E9-0320-99616C35B7F1}"/>
              </a:ext>
            </a:extLst>
          </p:cNvPr>
          <p:cNvSpPr/>
          <p:nvPr/>
        </p:nvSpPr>
        <p:spPr>
          <a:xfrm>
            <a:off x="9408520" y="996548"/>
            <a:ext cx="1381124" cy="45162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C079B6A5-C786-086F-7DF8-CC25D9900C0D}"/>
              </a:ext>
            </a:extLst>
          </p:cNvPr>
          <p:cNvSpPr/>
          <p:nvPr/>
        </p:nvSpPr>
        <p:spPr>
          <a:xfrm>
            <a:off x="6373230" y="996612"/>
            <a:ext cx="2959094" cy="451628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5C02987E-8C5B-8825-7189-FCCDBE4CE7C4}"/>
              </a:ext>
            </a:extLst>
          </p:cNvPr>
          <p:cNvSpPr/>
          <p:nvPr/>
        </p:nvSpPr>
        <p:spPr>
          <a:xfrm>
            <a:off x="3196059" y="1064659"/>
            <a:ext cx="1554954" cy="44482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3A4D957-0724-5FEF-2B80-2B77CEECBE8B}"/>
              </a:ext>
            </a:extLst>
          </p:cNvPr>
          <p:cNvSpPr/>
          <p:nvPr/>
        </p:nvSpPr>
        <p:spPr>
          <a:xfrm>
            <a:off x="26468" y="2901546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Eventos Simulados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9183EEF-F9D3-4909-C17E-DA89E0D0A8ED}"/>
              </a:ext>
            </a:extLst>
          </p:cNvPr>
          <p:cNvSpPr/>
          <p:nvPr/>
        </p:nvSpPr>
        <p:spPr>
          <a:xfrm>
            <a:off x="1840980" y="2901545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Pub / Sub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5498D54-F64D-778B-C344-2765626ECE5F}"/>
              </a:ext>
            </a:extLst>
          </p:cNvPr>
          <p:cNvSpPr/>
          <p:nvPr/>
        </p:nvSpPr>
        <p:spPr>
          <a:xfrm>
            <a:off x="1566734" y="2177645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Base de dados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0E1619E-C88D-35AE-EF9E-FAE1B5E2D5E7}"/>
              </a:ext>
            </a:extLst>
          </p:cNvPr>
          <p:cNvSpPr/>
          <p:nvPr/>
        </p:nvSpPr>
        <p:spPr>
          <a:xfrm>
            <a:off x="3341101" y="2168120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GCS Bronze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A45359F-0C87-1689-9D9F-076E81966FEC}"/>
              </a:ext>
            </a:extLst>
          </p:cNvPr>
          <p:cNvSpPr/>
          <p:nvPr/>
        </p:nvSpPr>
        <p:spPr>
          <a:xfrm>
            <a:off x="3357801" y="2901542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Bronze Streaming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1978146-BD86-51B3-F1F9-1293D9B4975B}"/>
              </a:ext>
            </a:extLst>
          </p:cNvPr>
          <p:cNvSpPr/>
          <p:nvPr/>
        </p:nvSpPr>
        <p:spPr>
          <a:xfrm>
            <a:off x="6636746" y="2120496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Big Query</a:t>
            </a:r>
          </a:p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Silver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88D1D9A-DB20-B609-C4A3-D506F62C6480}"/>
              </a:ext>
            </a:extLst>
          </p:cNvPr>
          <p:cNvSpPr/>
          <p:nvPr/>
        </p:nvSpPr>
        <p:spPr>
          <a:xfrm>
            <a:off x="4988923" y="2644371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 err="1">
                <a:latin typeface="Cambria" panose="02040503050406030204" pitchFamily="18" charset="0"/>
                <a:ea typeface="Cambria" panose="02040503050406030204" pitchFamily="18" charset="0"/>
              </a:rPr>
              <a:t>Airflow</a:t>
            </a:r>
            <a:endParaRPr lang="pt-B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pt-BR" sz="1100" dirty="0" err="1">
                <a:latin typeface="Cambria" panose="02040503050406030204" pitchFamily="18" charset="0"/>
                <a:ea typeface="Cambria" panose="02040503050406030204" pitchFamily="18" charset="0"/>
              </a:rPr>
              <a:t>Dataflow</a:t>
            </a:r>
            <a:endParaRPr lang="pt-B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ED1D152-CAEF-F465-3A6D-61DA29AD1BCA}"/>
              </a:ext>
            </a:extLst>
          </p:cNvPr>
          <p:cNvSpPr/>
          <p:nvPr/>
        </p:nvSpPr>
        <p:spPr>
          <a:xfrm>
            <a:off x="6636745" y="3092047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Cloud </a:t>
            </a:r>
            <a:r>
              <a:rPr lang="pt-BR" sz="1100" dirty="0" err="1">
                <a:latin typeface="Cambria" panose="02040503050406030204" pitchFamily="18" charset="0"/>
                <a:ea typeface="Cambria" panose="02040503050406030204" pitchFamily="18" charset="0"/>
              </a:rPr>
              <a:t>Logging</a:t>
            </a:r>
            <a:endParaRPr lang="pt-B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pt-BR" sz="1100" dirty="0" err="1">
                <a:latin typeface="Cambria" panose="02040503050406030204" pitchFamily="18" charset="0"/>
                <a:ea typeface="Cambria" panose="02040503050406030204" pitchFamily="18" charset="0"/>
              </a:rPr>
              <a:t>Monitoring</a:t>
            </a:r>
            <a:endParaRPr lang="pt-BR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17F1523-D8B6-B425-9B1E-87FBB5E42AED}"/>
              </a:ext>
            </a:extLst>
          </p:cNvPr>
          <p:cNvSpPr/>
          <p:nvPr/>
        </p:nvSpPr>
        <p:spPr>
          <a:xfrm>
            <a:off x="8046447" y="2125253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Validações de Qualidade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E37E3AD-DCB4-C0B0-257A-049C6EDE32B3}"/>
              </a:ext>
            </a:extLst>
          </p:cNvPr>
          <p:cNvSpPr/>
          <p:nvPr/>
        </p:nvSpPr>
        <p:spPr>
          <a:xfrm>
            <a:off x="9494246" y="2120492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Big Query</a:t>
            </a:r>
          </a:p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Gold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B092331-6EF7-8400-649F-0C42A6875A86}"/>
              </a:ext>
            </a:extLst>
          </p:cNvPr>
          <p:cNvSpPr/>
          <p:nvPr/>
        </p:nvSpPr>
        <p:spPr>
          <a:xfrm>
            <a:off x="10980148" y="1758541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Dashboards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6E95A80-9ADF-3278-02BB-0A2353F1B237}"/>
              </a:ext>
            </a:extLst>
          </p:cNvPr>
          <p:cNvSpPr/>
          <p:nvPr/>
        </p:nvSpPr>
        <p:spPr>
          <a:xfrm>
            <a:off x="10980147" y="2415766"/>
            <a:ext cx="1133475" cy="476251"/>
          </a:xfrm>
          <a:prstGeom prst="roundRect">
            <a:avLst/>
          </a:prstGeom>
          <a:solidFill>
            <a:srgbClr val="00009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mbria" panose="02040503050406030204" pitchFamily="18" charset="0"/>
                <a:ea typeface="Cambria" panose="02040503050406030204" pitchFamily="18" charset="0"/>
              </a:rPr>
              <a:t>Modelos de IA</a:t>
            </a:r>
          </a:p>
        </p:txBody>
      </p:sp>
      <p:cxnSp>
        <p:nvCxnSpPr>
          <p:cNvPr id="16" name="Conector: Curvo 15">
            <a:extLst>
              <a:ext uri="{FF2B5EF4-FFF2-40B4-BE49-F238E27FC236}">
                <a16:creationId xmlns:a16="http://schemas.microsoft.com/office/drawing/2014/main" id="{78FAA5A8-2B02-989A-0EFD-1A20E00B9871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1159943" y="3139671"/>
            <a:ext cx="681037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AA61AE8-E95B-ADFD-545F-A5845868DCAE}"/>
              </a:ext>
            </a:extLst>
          </p:cNvPr>
          <p:cNvSpPr txBox="1"/>
          <p:nvPr/>
        </p:nvSpPr>
        <p:spPr>
          <a:xfrm>
            <a:off x="671750" y="2860114"/>
            <a:ext cx="16478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dirty="0">
                <a:latin typeface="Cambria" panose="02040503050406030204" pitchFamily="18" charset="0"/>
                <a:ea typeface="Cambria" panose="02040503050406030204" pitchFamily="18" charset="0"/>
              </a:rPr>
              <a:t>Streaming</a:t>
            </a:r>
          </a:p>
        </p:txBody>
      </p:sp>
      <p:cxnSp>
        <p:nvCxnSpPr>
          <p:cNvPr id="22" name="Conector: Curvo 21">
            <a:extLst>
              <a:ext uri="{FF2B5EF4-FFF2-40B4-BE49-F238E27FC236}">
                <a16:creationId xmlns:a16="http://schemas.microsoft.com/office/drawing/2014/main" id="{F09E3E98-3245-8E10-E614-153BFF3C8BD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700209" y="2406246"/>
            <a:ext cx="640892" cy="95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: Curvo 24">
            <a:extLst>
              <a:ext uri="{FF2B5EF4-FFF2-40B4-BE49-F238E27FC236}">
                <a16:creationId xmlns:a16="http://schemas.microsoft.com/office/drawing/2014/main" id="{F20D2972-3985-3D79-0061-65D6114E4E1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2974455" y="3139668"/>
            <a:ext cx="383346" cy="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: Curvo 28">
            <a:extLst>
              <a:ext uri="{FF2B5EF4-FFF2-40B4-BE49-F238E27FC236}">
                <a16:creationId xmlns:a16="http://schemas.microsoft.com/office/drawing/2014/main" id="{33C602C0-D984-FABD-4438-42289210545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474576" y="2406246"/>
            <a:ext cx="514347" cy="47625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: Curvo 32">
            <a:extLst>
              <a:ext uri="{FF2B5EF4-FFF2-40B4-BE49-F238E27FC236}">
                <a16:creationId xmlns:a16="http://schemas.microsoft.com/office/drawing/2014/main" id="{33ABFC26-4F52-8EF0-21F6-A88492CF4714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491276" y="2882497"/>
            <a:ext cx="497647" cy="25717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: Curvo 35">
            <a:extLst>
              <a:ext uri="{FF2B5EF4-FFF2-40B4-BE49-F238E27FC236}">
                <a16:creationId xmlns:a16="http://schemas.microsoft.com/office/drawing/2014/main" id="{0A148558-AA42-C2A8-F7D6-F13A43550BBE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6122398" y="2358622"/>
            <a:ext cx="514348" cy="5238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: Curvo 38">
            <a:extLst>
              <a:ext uri="{FF2B5EF4-FFF2-40B4-BE49-F238E27FC236}">
                <a16:creationId xmlns:a16="http://schemas.microsoft.com/office/drawing/2014/main" id="{0289C2E0-9904-0259-2041-6799BF4BAB6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122398" y="2882497"/>
            <a:ext cx="514347" cy="44767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: Curvo 42">
            <a:extLst>
              <a:ext uri="{FF2B5EF4-FFF2-40B4-BE49-F238E27FC236}">
                <a16:creationId xmlns:a16="http://schemas.microsoft.com/office/drawing/2014/main" id="{BE6C44CB-2B44-CAA3-E3AB-CD93DF4683F5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7770221" y="2358622"/>
            <a:ext cx="276226" cy="475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: Curvo 45">
            <a:extLst>
              <a:ext uri="{FF2B5EF4-FFF2-40B4-BE49-F238E27FC236}">
                <a16:creationId xmlns:a16="http://schemas.microsoft.com/office/drawing/2014/main" id="{D7736E67-FF5E-351E-F307-6CE6CD49484E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9179922" y="2358618"/>
            <a:ext cx="314324" cy="476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: Curvo 52">
            <a:extLst>
              <a:ext uri="{FF2B5EF4-FFF2-40B4-BE49-F238E27FC236}">
                <a16:creationId xmlns:a16="http://schemas.microsoft.com/office/drawing/2014/main" id="{95524B66-9EBC-BD8A-571A-E2D66166E09E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10627721" y="1996667"/>
            <a:ext cx="352427" cy="36195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: Curvo 55">
            <a:extLst>
              <a:ext uri="{FF2B5EF4-FFF2-40B4-BE49-F238E27FC236}">
                <a16:creationId xmlns:a16="http://schemas.microsoft.com/office/drawing/2014/main" id="{7D30D9FE-8D46-2AFD-98A4-4766B69EBB2C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10627721" y="2358618"/>
            <a:ext cx="352426" cy="29527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A3E604FA-426A-246C-BB42-2FA1CD8D5B76}"/>
              </a:ext>
            </a:extLst>
          </p:cNvPr>
          <p:cNvSpPr txBox="1"/>
          <p:nvPr/>
        </p:nvSpPr>
        <p:spPr>
          <a:xfrm>
            <a:off x="2150542" y="2150502"/>
            <a:ext cx="16478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dirty="0">
                <a:latin typeface="Cambria" panose="02040503050406030204" pitchFamily="18" charset="0"/>
                <a:ea typeface="Cambria" panose="02040503050406030204" pitchFamily="18" charset="0"/>
              </a:rPr>
              <a:t>Batch</a:t>
            </a:r>
          </a:p>
        </p:txBody>
      </p:sp>
      <p:pic>
        <p:nvPicPr>
          <p:cNvPr id="65" name="Gráfico 64" descr="Banco de dados estrutura de tópicos">
            <a:extLst>
              <a:ext uri="{FF2B5EF4-FFF2-40B4-BE49-F238E27FC236}">
                <a16:creationId xmlns:a16="http://schemas.microsoft.com/office/drawing/2014/main" id="{3840A15B-CCB6-2CD4-D4F3-1BA2BB4DA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3544" y="1358916"/>
            <a:ext cx="555338" cy="555338"/>
          </a:xfrm>
          <a:prstGeom prst="rect">
            <a:avLst/>
          </a:prstGeom>
        </p:spPr>
      </p:pic>
      <p:sp>
        <p:nvSpPr>
          <p:cNvPr id="70" name="CaixaDeTexto 69">
            <a:extLst>
              <a:ext uri="{FF2B5EF4-FFF2-40B4-BE49-F238E27FC236}">
                <a16:creationId xmlns:a16="http://schemas.microsoft.com/office/drawing/2014/main" id="{0252E201-BA05-ED97-CED3-09DDD77FAEAF}"/>
              </a:ext>
            </a:extLst>
          </p:cNvPr>
          <p:cNvSpPr txBox="1"/>
          <p:nvPr/>
        </p:nvSpPr>
        <p:spPr>
          <a:xfrm>
            <a:off x="3196059" y="1083708"/>
            <a:ext cx="1554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BRONZE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3EA33642-EB63-E14F-2E47-807120A330E5}"/>
              </a:ext>
            </a:extLst>
          </p:cNvPr>
          <p:cNvSpPr txBox="1"/>
          <p:nvPr/>
        </p:nvSpPr>
        <p:spPr>
          <a:xfrm>
            <a:off x="6373230" y="1001312"/>
            <a:ext cx="2959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SILVER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9CD1D3B9-BC81-E28C-8905-74B1F1C218CF}"/>
              </a:ext>
            </a:extLst>
          </p:cNvPr>
          <p:cNvSpPr txBox="1"/>
          <p:nvPr/>
        </p:nvSpPr>
        <p:spPr>
          <a:xfrm>
            <a:off x="9494245" y="1007931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GOLD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45FBCBAA-7F67-4E3F-D80F-8EC04B7F9483}"/>
              </a:ext>
            </a:extLst>
          </p:cNvPr>
          <p:cNvSpPr txBox="1"/>
          <p:nvPr/>
        </p:nvSpPr>
        <p:spPr>
          <a:xfrm>
            <a:off x="3196059" y="4817507"/>
            <a:ext cx="1554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latin typeface="Cambria" panose="02040503050406030204" pitchFamily="18" charset="0"/>
                <a:ea typeface="Cambria" panose="02040503050406030204" pitchFamily="18" charset="0"/>
              </a:rPr>
              <a:t>Ingestão do dado bruto</a:t>
            </a:r>
          </a:p>
        </p:txBody>
      </p:sp>
      <p:pic>
        <p:nvPicPr>
          <p:cNvPr id="75" name="Gráfico 74" descr="Banco de dados estrutura de tópicos">
            <a:extLst>
              <a:ext uri="{FF2B5EF4-FFF2-40B4-BE49-F238E27FC236}">
                <a16:creationId xmlns:a16="http://schemas.microsoft.com/office/drawing/2014/main" id="{FB338399-9475-2266-23E7-0B4BA97CA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0665" y="1327033"/>
            <a:ext cx="555338" cy="555338"/>
          </a:xfrm>
          <a:prstGeom prst="rect">
            <a:avLst/>
          </a:prstGeom>
        </p:spPr>
      </p:pic>
      <p:pic>
        <p:nvPicPr>
          <p:cNvPr id="76" name="Gráfico 75" descr="Banco de dados estrutura de tópicos">
            <a:extLst>
              <a:ext uri="{FF2B5EF4-FFF2-40B4-BE49-F238E27FC236}">
                <a16:creationId xmlns:a16="http://schemas.microsoft.com/office/drawing/2014/main" id="{40B62BB3-7124-77AC-3931-955FE7CA5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21413" y="1337376"/>
            <a:ext cx="555338" cy="555338"/>
          </a:xfrm>
          <a:prstGeom prst="rect">
            <a:avLst/>
          </a:prstGeom>
        </p:spPr>
      </p:pic>
      <p:sp>
        <p:nvSpPr>
          <p:cNvPr id="77" name="CaixaDeTexto 76">
            <a:extLst>
              <a:ext uri="{FF2B5EF4-FFF2-40B4-BE49-F238E27FC236}">
                <a16:creationId xmlns:a16="http://schemas.microsoft.com/office/drawing/2014/main" id="{1D158BC4-2FD0-F003-3E6F-BF43B3B2828B}"/>
              </a:ext>
            </a:extLst>
          </p:cNvPr>
          <p:cNvSpPr txBox="1"/>
          <p:nvPr/>
        </p:nvSpPr>
        <p:spPr>
          <a:xfrm>
            <a:off x="6373230" y="4956006"/>
            <a:ext cx="2959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Dados tratados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6C37CBCF-3A98-A515-174A-7FA585443ABA}"/>
              </a:ext>
            </a:extLst>
          </p:cNvPr>
          <p:cNvSpPr txBox="1"/>
          <p:nvPr/>
        </p:nvSpPr>
        <p:spPr>
          <a:xfrm>
            <a:off x="15948" y="3772285"/>
            <a:ext cx="3001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Cambria" panose="02040503050406030204" pitchFamily="18" charset="0"/>
                <a:ea typeface="Cambria" panose="02040503050406030204" pitchFamily="18" charset="0"/>
              </a:rPr>
              <a:t>Fontes de Dados Externas</a:t>
            </a:r>
            <a:endParaRPr lang="pt-BR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3" name="Imagem 82">
            <a:extLst>
              <a:ext uri="{FF2B5EF4-FFF2-40B4-BE49-F238E27FC236}">
                <a16:creationId xmlns:a16="http://schemas.microsoft.com/office/drawing/2014/main" id="{04681670-BDF9-D9C8-C676-EBCA3A881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06" y="4726691"/>
            <a:ext cx="1268930" cy="181631"/>
          </a:xfrm>
          <a:prstGeom prst="rect">
            <a:avLst/>
          </a:prstGeom>
        </p:spPr>
      </p:pic>
      <p:pic>
        <p:nvPicPr>
          <p:cNvPr id="85" name="Imagem 84">
            <a:extLst>
              <a:ext uri="{FF2B5EF4-FFF2-40B4-BE49-F238E27FC236}">
                <a16:creationId xmlns:a16="http://schemas.microsoft.com/office/drawing/2014/main" id="{2D20871D-649F-C150-8324-48AAA18C6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71" y="4166985"/>
            <a:ext cx="412771" cy="228612"/>
          </a:xfrm>
          <a:prstGeom prst="rect">
            <a:avLst/>
          </a:prstGeom>
        </p:spPr>
      </p:pic>
      <p:pic>
        <p:nvPicPr>
          <p:cNvPr id="86" name="Imagem 85">
            <a:extLst>
              <a:ext uri="{FF2B5EF4-FFF2-40B4-BE49-F238E27FC236}">
                <a16:creationId xmlns:a16="http://schemas.microsoft.com/office/drawing/2014/main" id="{32948AB1-818D-68DF-278E-B99ED3A29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088" y="4175352"/>
            <a:ext cx="412771" cy="228612"/>
          </a:xfrm>
          <a:prstGeom prst="rect">
            <a:avLst/>
          </a:prstGeom>
        </p:spPr>
      </p:pic>
      <p:pic>
        <p:nvPicPr>
          <p:cNvPr id="87" name="Imagem 86">
            <a:extLst>
              <a:ext uri="{FF2B5EF4-FFF2-40B4-BE49-F238E27FC236}">
                <a16:creationId xmlns:a16="http://schemas.microsoft.com/office/drawing/2014/main" id="{B7AAEECE-AE58-CF25-F155-39B04AFA5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61" y="4380369"/>
            <a:ext cx="412771" cy="228612"/>
          </a:xfrm>
          <a:prstGeom prst="rect">
            <a:avLst/>
          </a:prstGeom>
        </p:spPr>
      </p:pic>
      <p:sp>
        <p:nvSpPr>
          <p:cNvPr id="89" name="CaixaDeTexto 88">
            <a:extLst>
              <a:ext uri="{FF2B5EF4-FFF2-40B4-BE49-F238E27FC236}">
                <a16:creationId xmlns:a16="http://schemas.microsoft.com/office/drawing/2014/main" id="{048C0D65-D91B-C3C3-19DA-3F2AD4828894}"/>
              </a:ext>
            </a:extLst>
          </p:cNvPr>
          <p:cNvSpPr txBox="1"/>
          <p:nvPr/>
        </p:nvSpPr>
        <p:spPr>
          <a:xfrm>
            <a:off x="10703919" y="973264"/>
            <a:ext cx="1620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Cambria" panose="02040503050406030204" pitchFamily="18" charset="0"/>
                <a:ea typeface="Cambria" panose="02040503050406030204" pitchFamily="18" charset="0"/>
              </a:rPr>
              <a:t>Consumidor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4D195C1F-82AE-64F7-2253-04AA8A55397D}"/>
              </a:ext>
            </a:extLst>
          </p:cNvPr>
          <p:cNvSpPr txBox="1"/>
          <p:nvPr/>
        </p:nvSpPr>
        <p:spPr>
          <a:xfrm>
            <a:off x="42236" y="-29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kern="0" spc="200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Arquitetura</a:t>
            </a:r>
            <a:r>
              <a:rPr lang="en-US" sz="1800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da </a:t>
            </a:r>
            <a:r>
              <a:rPr lang="en-US" sz="1800" b="1" kern="0" spc="200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Solução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2" name="Imagem 91">
            <a:extLst>
              <a:ext uri="{FF2B5EF4-FFF2-40B4-BE49-F238E27FC236}">
                <a16:creationId xmlns:a16="http://schemas.microsoft.com/office/drawing/2014/main" id="{B7726C2A-5656-DF69-72D1-30535C51F2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2578" y="3807817"/>
            <a:ext cx="311166" cy="247663"/>
          </a:xfrm>
          <a:prstGeom prst="rect">
            <a:avLst/>
          </a:prstGeom>
        </p:spPr>
      </p:pic>
      <p:pic>
        <p:nvPicPr>
          <p:cNvPr id="94" name="Imagem 93">
            <a:extLst>
              <a:ext uri="{FF2B5EF4-FFF2-40B4-BE49-F238E27FC236}">
                <a16:creationId xmlns:a16="http://schemas.microsoft.com/office/drawing/2014/main" id="{4710486C-6422-7857-D272-7027343EAD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7707" y="3233584"/>
            <a:ext cx="393720" cy="254013"/>
          </a:xfrm>
          <a:prstGeom prst="rect">
            <a:avLst/>
          </a:prstGeom>
        </p:spPr>
      </p:pic>
      <p:pic>
        <p:nvPicPr>
          <p:cNvPr id="96" name="Imagem 95">
            <a:extLst>
              <a:ext uri="{FF2B5EF4-FFF2-40B4-BE49-F238E27FC236}">
                <a16:creationId xmlns:a16="http://schemas.microsoft.com/office/drawing/2014/main" id="{8D2020AC-7591-A056-8B29-BD4018CE92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8574" y="4535289"/>
            <a:ext cx="336567" cy="247663"/>
          </a:xfrm>
          <a:prstGeom prst="rect">
            <a:avLst/>
          </a:prstGeom>
        </p:spPr>
      </p:pic>
      <p:sp>
        <p:nvSpPr>
          <p:cNvPr id="97" name="CaixaDeTexto 96">
            <a:extLst>
              <a:ext uri="{FF2B5EF4-FFF2-40B4-BE49-F238E27FC236}">
                <a16:creationId xmlns:a16="http://schemas.microsoft.com/office/drawing/2014/main" id="{FBA3413C-618C-E68F-1630-0A1C6262D4D0}"/>
              </a:ext>
            </a:extLst>
          </p:cNvPr>
          <p:cNvSpPr txBox="1"/>
          <p:nvPr/>
        </p:nvSpPr>
        <p:spPr>
          <a:xfrm>
            <a:off x="11043789" y="3444475"/>
            <a:ext cx="10061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dirty="0">
                <a:latin typeface="Cambria" panose="02040503050406030204" pitchFamily="18" charset="0"/>
                <a:ea typeface="Cambria" panose="02040503050406030204" pitchFamily="18" charset="0"/>
              </a:rPr>
              <a:t>Dashboards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7A52F12E-9B56-43B1-EC14-702647B0CAD3}"/>
              </a:ext>
            </a:extLst>
          </p:cNvPr>
          <p:cNvSpPr txBox="1"/>
          <p:nvPr/>
        </p:nvSpPr>
        <p:spPr>
          <a:xfrm>
            <a:off x="10968154" y="4017816"/>
            <a:ext cx="1145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dirty="0">
                <a:latin typeface="Cambria" panose="02040503050406030204" pitchFamily="18" charset="0"/>
                <a:ea typeface="Cambria" panose="02040503050406030204" pitchFamily="18" charset="0"/>
              </a:rPr>
              <a:t>Análise Estatísticas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AF0D738C-49BE-481C-0C3C-4652E05D1D5C}"/>
              </a:ext>
            </a:extLst>
          </p:cNvPr>
          <p:cNvSpPr txBox="1"/>
          <p:nvPr/>
        </p:nvSpPr>
        <p:spPr>
          <a:xfrm>
            <a:off x="10865840" y="4807982"/>
            <a:ext cx="13811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000" b="1" dirty="0">
                <a:latin typeface="Cambria" panose="02040503050406030204" pitchFamily="18" charset="0"/>
                <a:ea typeface="Cambria" panose="02040503050406030204" pitchFamily="18" charset="0"/>
              </a:rPr>
              <a:t>Treinamento Modelos Machine Learning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C8E18F82-6915-71FA-15EE-991A53BC41FA}"/>
              </a:ext>
            </a:extLst>
          </p:cNvPr>
          <p:cNvSpPr txBox="1"/>
          <p:nvPr/>
        </p:nvSpPr>
        <p:spPr>
          <a:xfrm>
            <a:off x="-142021" y="483478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latin typeface="Cambria" panose="02040503050406030204" pitchFamily="18" charset="0"/>
                <a:ea typeface="Cambria" panose="02040503050406030204" pitchFamily="18" charset="0"/>
              </a:rPr>
              <a:t>Arquitetura Medalhão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EC69EFBC-E5B3-F110-B5B3-1D0257AC0538}"/>
              </a:ext>
            </a:extLst>
          </p:cNvPr>
          <p:cNvSpPr txBox="1"/>
          <p:nvPr/>
        </p:nvSpPr>
        <p:spPr>
          <a:xfrm>
            <a:off x="9408519" y="4846767"/>
            <a:ext cx="13811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latin typeface="Cambria" panose="02040503050406030204" pitchFamily="18" charset="0"/>
                <a:ea typeface="Cambria" panose="02040503050406030204" pitchFamily="18" charset="0"/>
              </a:rPr>
              <a:t>Camada</a:t>
            </a:r>
          </a:p>
          <a:p>
            <a:pPr algn="ctr"/>
            <a:r>
              <a:rPr lang="pt-BR" sz="1800" b="1" dirty="0">
                <a:latin typeface="Cambria" panose="02040503050406030204" pitchFamily="18" charset="0"/>
                <a:ea typeface="Cambria" panose="02040503050406030204" pitchFamily="18" charset="0"/>
              </a:rPr>
              <a:t>Analítica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2D42A71-EB9A-042B-8A49-69A15947FD32}"/>
              </a:ext>
            </a:extLst>
          </p:cNvPr>
          <p:cNvSpPr txBox="1"/>
          <p:nvPr/>
        </p:nvSpPr>
        <p:spPr>
          <a:xfrm>
            <a:off x="118757" y="5594645"/>
            <a:ext cx="11931222" cy="369332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latin typeface="Cambria" panose="02040503050406030204" pitchFamily="18" charset="0"/>
                <a:ea typeface="Cambria" panose="02040503050406030204" pitchFamily="18" charset="0"/>
              </a:rPr>
              <a:t>Monitoramento e </a:t>
            </a:r>
            <a:r>
              <a:rPr lang="pt-BR" sz="1800" b="1" dirty="0" err="1">
                <a:latin typeface="Cambria" panose="02040503050406030204" pitchFamily="18" charset="0"/>
                <a:ea typeface="Cambria" panose="02040503050406030204" pitchFamily="18" charset="0"/>
              </a:rPr>
              <a:t>Finops</a:t>
            </a:r>
            <a:endParaRPr lang="pt-BR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243F559A-464E-1983-ADEB-3C92F390FC32}"/>
              </a:ext>
            </a:extLst>
          </p:cNvPr>
          <p:cNvSpPr txBox="1">
            <a:spLocks/>
          </p:cNvSpPr>
          <p:nvPr/>
        </p:nvSpPr>
        <p:spPr>
          <a:xfrm>
            <a:off x="19050" y="6431219"/>
            <a:ext cx="3635925" cy="456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pt-BR" sz="1600" dirty="0">
                <a:solidFill>
                  <a:schemeClr val="bg1"/>
                </a:solidFill>
              </a:rPr>
              <a:t>FIAP Tech </a:t>
            </a:r>
            <a:r>
              <a:rPr lang="pt-BR" sz="1600" dirty="0" err="1">
                <a:solidFill>
                  <a:schemeClr val="bg1"/>
                </a:solidFill>
              </a:rPr>
              <a:t>challenge</a:t>
            </a:r>
            <a:r>
              <a:rPr lang="pt-BR" sz="1600" dirty="0">
                <a:solidFill>
                  <a:schemeClr val="bg1"/>
                </a:solidFill>
              </a:rPr>
              <a:t> fase 2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9AAF9F4-CE56-F5CA-96D5-351789619E03}"/>
              </a:ext>
            </a:extLst>
          </p:cNvPr>
          <p:cNvSpPr txBox="1"/>
          <p:nvPr/>
        </p:nvSpPr>
        <p:spPr>
          <a:xfrm>
            <a:off x="4494941" y="6026686"/>
            <a:ext cx="7697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0F2846"/>
                </a:solidFill>
                <a:latin typeface="Cambria" pitchFamily="34" charset="0"/>
                <a:ea typeface="Cambria" pitchFamily="34" charset="-122"/>
              </a:rPr>
              <a:t>Prova de conceito implementada em Python e Parquet, com arquitetura de referência para evolução em GCP.</a:t>
            </a:r>
          </a:p>
        </p:txBody>
      </p:sp>
    </p:spTree>
    <p:extLst>
      <p:ext uri="{BB962C8B-B14F-4D97-AF65-F5344CB8AC3E}">
        <p14:creationId xmlns:p14="http://schemas.microsoft.com/office/powerpoint/2010/main" val="354800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7807B-1C3F-5A2F-07DB-D705C004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aixaDeTexto 89">
            <a:extLst>
              <a:ext uri="{FF2B5EF4-FFF2-40B4-BE49-F238E27FC236}">
                <a16:creationId xmlns:a16="http://schemas.microsoft.com/office/drawing/2014/main" id="{29484E3F-79FB-FF48-262C-323DC7B6AFB9}"/>
              </a:ext>
            </a:extLst>
          </p:cNvPr>
          <p:cNvSpPr txBox="1"/>
          <p:nvPr/>
        </p:nvSpPr>
        <p:spPr>
          <a:xfrm>
            <a:off x="42235" y="-2975"/>
            <a:ext cx="11353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spc="200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Arquitetura</a:t>
            </a:r>
            <a:r>
              <a:rPr lang="en-US" sz="1800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da </a:t>
            </a:r>
            <a:r>
              <a:rPr lang="en-US" sz="1800" b="1" kern="0" spc="200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Solução</a:t>
            </a:r>
            <a:r>
              <a:rPr lang="en-US" sz="1800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- </a:t>
            </a:r>
            <a:r>
              <a:rPr lang="pt-BR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Decisões Arquiteturais e Eficiência da Solução</a:t>
            </a:r>
          </a:p>
          <a:p>
            <a:pPr marL="0" indent="0">
              <a:buNone/>
            </a:pPr>
            <a:endParaRPr lang="en-US" sz="1800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5037B20-1798-2C25-D0B9-0951AFF8CEB4}"/>
              </a:ext>
            </a:extLst>
          </p:cNvPr>
          <p:cNvSpPr txBox="1">
            <a:spLocks/>
          </p:cNvSpPr>
          <p:nvPr/>
        </p:nvSpPr>
        <p:spPr>
          <a:xfrm>
            <a:off x="19050" y="6431219"/>
            <a:ext cx="3635925" cy="456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pt-BR" sz="1600" dirty="0">
                <a:solidFill>
                  <a:schemeClr val="bg1"/>
                </a:solidFill>
              </a:rPr>
              <a:t>FIAP Tech </a:t>
            </a:r>
            <a:r>
              <a:rPr lang="pt-BR" sz="1600" dirty="0" err="1">
                <a:solidFill>
                  <a:schemeClr val="bg1"/>
                </a:solidFill>
              </a:rPr>
              <a:t>challenge</a:t>
            </a:r>
            <a:r>
              <a:rPr lang="pt-BR" sz="1600" dirty="0">
                <a:solidFill>
                  <a:schemeClr val="bg1"/>
                </a:solidFill>
              </a:rPr>
              <a:t> fase 2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1DA76EA0-3C21-39AF-1D2A-A56EC295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73" y="1506109"/>
            <a:ext cx="5769720" cy="298122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019223C-4CA1-B499-6640-1E0BB03BBD38}"/>
              </a:ext>
            </a:extLst>
          </p:cNvPr>
          <p:cNvSpPr txBox="1"/>
          <p:nvPr/>
        </p:nvSpPr>
        <p:spPr>
          <a:xfrm>
            <a:off x="6324602" y="1107995"/>
            <a:ext cx="58673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Ingestão híbrida</a:t>
            </a:r>
            <a:br>
              <a:rPr lang="pt-BR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</a:br>
            <a:r>
              <a:rPr lang="pt-BR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Batch para dados históricos e streaming simulado para atualizações incrementais.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Arquitetura de dados</a:t>
            </a:r>
            <a:br>
              <a:rPr lang="pt-BR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</a:br>
            <a:r>
              <a:rPr lang="pt-BR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Parquet + Medalhão para histórico, reprocessamento e menor custo. </a:t>
            </a:r>
            <a:r>
              <a:rPr lang="pt-BR" sz="1600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BigQuery</a:t>
            </a:r>
            <a:r>
              <a:rPr lang="pt-BR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como consumo analítico futuro.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Qualidade e governança</a:t>
            </a:r>
            <a:br>
              <a:rPr lang="pt-BR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</a:br>
            <a:r>
              <a:rPr lang="pt-BR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Validação de nulos, duplicidades, tipos, chaves e quarentena de inconsistências.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sz="1600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sz="16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Monitoramento e </a:t>
            </a:r>
            <a:r>
              <a:rPr lang="pt-BR" sz="16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FinOps</a:t>
            </a:r>
            <a:br>
              <a:rPr lang="pt-BR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</a:br>
            <a:r>
              <a:rPr lang="pt-BR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Logs, volumes, falhas, latência, particionamento e processamento sob demanda.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9B20E40-E0F8-237D-7028-24BF36176B86}"/>
              </a:ext>
            </a:extLst>
          </p:cNvPr>
          <p:cNvSpPr txBox="1"/>
          <p:nvPr/>
        </p:nvSpPr>
        <p:spPr>
          <a:xfrm>
            <a:off x="6324602" y="5442228"/>
            <a:ext cx="58673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POC local em Python e Parquet | GCP como evolução para escala.</a:t>
            </a:r>
          </a:p>
        </p:txBody>
      </p:sp>
    </p:spTree>
    <p:extLst>
      <p:ext uri="{BB962C8B-B14F-4D97-AF65-F5344CB8AC3E}">
        <p14:creationId xmlns:p14="http://schemas.microsoft.com/office/powerpoint/2010/main" val="315323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52EF-7988-5CF7-3B86-B57C6929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A268FC5B-9A7C-31EA-EF57-163F22BEEA16}"/>
              </a:ext>
            </a:extLst>
          </p:cNvPr>
          <p:cNvSpPr/>
          <p:nvPr/>
        </p:nvSpPr>
        <p:spPr>
          <a:xfrm>
            <a:off x="4505535" y="1465552"/>
            <a:ext cx="5560815" cy="418809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852B79-E109-BE8C-0079-538A7DE0FF73}"/>
              </a:ext>
            </a:extLst>
          </p:cNvPr>
          <p:cNvSpPr txBox="1"/>
          <p:nvPr/>
        </p:nvSpPr>
        <p:spPr>
          <a:xfrm>
            <a:off x="0" y="0"/>
            <a:ext cx="7600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Valor da plataforma para a gestão educacional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69074A-216B-D73F-CA95-596AA6111511}"/>
              </a:ext>
            </a:extLst>
          </p:cNvPr>
          <p:cNvSpPr txBox="1"/>
          <p:nvPr/>
        </p:nvSpPr>
        <p:spPr>
          <a:xfrm>
            <a:off x="133738" y="577912"/>
            <a:ext cx="120228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Gerar evidências para apoiar a priorização de políticas públicas de alfabetização.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49584EF-837C-BA6B-C86A-05CF1725DC9F}"/>
              </a:ext>
            </a:extLst>
          </p:cNvPr>
          <p:cNvSpPr/>
          <p:nvPr/>
        </p:nvSpPr>
        <p:spPr>
          <a:xfrm>
            <a:off x="4505534" y="1463743"/>
            <a:ext cx="5563106" cy="45623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16D171C-70FB-3961-D229-A7F042C15706}"/>
              </a:ext>
            </a:extLst>
          </p:cNvPr>
          <p:cNvSpPr/>
          <p:nvPr/>
        </p:nvSpPr>
        <p:spPr>
          <a:xfrm>
            <a:off x="2317932" y="2288907"/>
            <a:ext cx="2026444" cy="4562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17107CC-331D-1AC8-4C93-C8D74A3C23CA}"/>
              </a:ext>
            </a:extLst>
          </p:cNvPr>
          <p:cNvSpPr/>
          <p:nvPr/>
        </p:nvSpPr>
        <p:spPr>
          <a:xfrm>
            <a:off x="189692" y="2277522"/>
            <a:ext cx="2026444" cy="46221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8CD8EEB-03E5-21C0-7F9A-65A33F7612B7}"/>
              </a:ext>
            </a:extLst>
          </p:cNvPr>
          <p:cNvSpPr txBox="1"/>
          <p:nvPr/>
        </p:nvSpPr>
        <p:spPr>
          <a:xfrm>
            <a:off x="484618" y="2283505"/>
            <a:ext cx="1721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BRONZE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ADFC14C-E70C-0F11-ADF5-FB6E63E55A23}"/>
              </a:ext>
            </a:extLst>
          </p:cNvPr>
          <p:cNvSpPr txBox="1"/>
          <p:nvPr/>
        </p:nvSpPr>
        <p:spPr>
          <a:xfrm>
            <a:off x="2622736" y="2306205"/>
            <a:ext cx="1721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SILVER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F02B2A3-CCBC-7AA1-AB5C-F2F954624E6C}"/>
              </a:ext>
            </a:extLst>
          </p:cNvPr>
          <p:cNvSpPr txBox="1"/>
          <p:nvPr/>
        </p:nvSpPr>
        <p:spPr>
          <a:xfrm>
            <a:off x="4814502" y="1463743"/>
            <a:ext cx="5254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GOLD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32B1F26-20EF-A4AD-D4FA-1DD0CD76CC3B}"/>
              </a:ext>
            </a:extLst>
          </p:cNvPr>
          <p:cNvSpPr txBox="1"/>
          <p:nvPr/>
        </p:nvSpPr>
        <p:spPr>
          <a:xfrm>
            <a:off x="199217" y="2787323"/>
            <a:ext cx="2016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Cambria" panose="02040503050406030204" pitchFamily="18" charset="0"/>
                <a:ea typeface="Cambria" panose="02040503050406030204" pitchFamily="18" charset="0"/>
              </a:rPr>
              <a:t>Ingestão dos Dados Públicos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85B91B-0594-7AFF-8654-2DAFE1FD5A7B}"/>
              </a:ext>
            </a:extLst>
          </p:cNvPr>
          <p:cNvSpPr txBox="1"/>
          <p:nvPr/>
        </p:nvSpPr>
        <p:spPr>
          <a:xfrm>
            <a:off x="2313170" y="2857800"/>
            <a:ext cx="2016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Cambria" panose="02040503050406030204" pitchFamily="18" charset="0"/>
                <a:ea typeface="Cambria" panose="02040503050406030204" pitchFamily="18" charset="0"/>
              </a:rPr>
              <a:t>Padronização e Integração</a:t>
            </a:r>
          </a:p>
        </p:txBody>
      </p:sp>
      <p:pic>
        <p:nvPicPr>
          <p:cNvPr id="19" name="Gráfico 18" descr="Banco de dados estrutura de tópicos">
            <a:extLst>
              <a:ext uri="{FF2B5EF4-FFF2-40B4-BE49-F238E27FC236}">
                <a16:creationId xmlns:a16="http://schemas.microsoft.com/office/drawing/2014/main" id="{70E21171-E07C-892C-BF00-168CAC8DF1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217" y="2277521"/>
            <a:ext cx="380660" cy="380660"/>
          </a:xfrm>
          <a:prstGeom prst="rect">
            <a:avLst/>
          </a:prstGeom>
        </p:spPr>
      </p:pic>
      <p:pic>
        <p:nvPicPr>
          <p:cNvPr id="20" name="Gráfico 19" descr="Banco de dados estrutura de tópicos">
            <a:extLst>
              <a:ext uri="{FF2B5EF4-FFF2-40B4-BE49-F238E27FC236}">
                <a16:creationId xmlns:a16="http://schemas.microsoft.com/office/drawing/2014/main" id="{EF3A6E0C-9B73-7DAC-1F07-3E0253B1B3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4604" y="2306096"/>
            <a:ext cx="380660" cy="380660"/>
          </a:xfrm>
          <a:prstGeom prst="rect">
            <a:avLst/>
          </a:prstGeom>
        </p:spPr>
      </p:pic>
      <p:pic>
        <p:nvPicPr>
          <p:cNvPr id="21" name="Gráfico 20" descr="Banco de dados estrutura de tópicos">
            <a:extLst>
              <a:ext uri="{FF2B5EF4-FFF2-40B4-BE49-F238E27FC236}">
                <a16:creationId xmlns:a16="http://schemas.microsoft.com/office/drawing/2014/main" id="{815AED1A-8ABB-6D70-9CAE-52C068AB3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0367" y="1460291"/>
            <a:ext cx="380660" cy="38066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6BDC5DC7-5A6C-6753-C4F0-222D9D17DFF9}"/>
              </a:ext>
            </a:extLst>
          </p:cNvPr>
          <p:cNvSpPr txBox="1"/>
          <p:nvPr/>
        </p:nvSpPr>
        <p:spPr>
          <a:xfrm>
            <a:off x="4491246" y="1985857"/>
            <a:ext cx="5563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Cambria" panose="02040503050406030204" pitchFamily="18" charset="0"/>
                <a:ea typeface="Cambria" panose="02040503050406030204" pitchFamily="18" charset="0"/>
              </a:rPr>
              <a:t>Estratégia e Direcionamento para o gasto em políticas públicas de educação </a:t>
            </a: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F551DF3B-6EC9-8AC2-A854-8E5E2E6C3612}"/>
              </a:ext>
            </a:extLst>
          </p:cNvPr>
          <p:cNvSpPr/>
          <p:nvPr/>
        </p:nvSpPr>
        <p:spPr>
          <a:xfrm>
            <a:off x="315008" y="3570509"/>
            <a:ext cx="1742666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Metas e </a:t>
            </a:r>
          </a:p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Resultados dos alunos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7621525-6115-6BBF-A369-BE6818C72C89}"/>
              </a:ext>
            </a:extLst>
          </p:cNvPr>
          <p:cNvSpPr/>
          <p:nvPr/>
        </p:nvSpPr>
        <p:spPr>
          <a:xfrm>
            <a:off x="2334691" y="2285314"/>
            <a:ext cx="2007394" cy="23037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B5B7FA2-1BFB-4415-6F31-CB2C8A01F9E8}"/>
              </a:ext>
            </a:extLst>
          </p:cNvPr>
          <p:cNvSpPr/>
          <p:nvPr/>
        </p:nvSpPr>
        <p:spPr>
          <a:xfrm>
            <a:off x="189694" y="2285314"/>
            <a:ext cx="2007394" cy="230372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1437A5DF-F4FC-20ED-745B-071E185080EA}"/>
              </a:ext>
            </a:extLst>
          </p:cNvPr>
          <p:cNvSpPr/>
          <p:nvPr/>
        </p:nvSpPr>
        <p:spPr>
          <a:xfrm>
            <a:off x="2507630" y="3556507"/>
            <a:ext cx="1742666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Confiabilidade</a:t>
            </a:r>
            <a:endParaRPr lang="pt-BR" sz="1200" b="1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026744ED-D2DD-2EE9-F647-C0CAA1F8BD15}"/>
              </a:ext>
            </a:extLst>
          </p:cNvPr>
          <p:cNvSpPr/>
          <p:nvPr/>
        </p:nvSpPr>
        <p:spPr>
          <a:xfrm>
            <a:off x="4633841" y="3561002"/>
            <a:ext cx="1742666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Compreender a evolução anual da </a:t>
            </a:r>
          </a:p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Taxa de Alfabetização</a:t>
            </a:r>
            <a:endParaRPr lang="pt-BR" sz="1200" b="1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44C40AFE-EB1F-15AB-30D0-F94DD5739D74}"/>
              </a:ext>
            </a:extLst>
          </p:cNvPr>
          <p:cNvSpPr/>
          <p:nvPr/>
        </p:nvSpPr>
        <p:spPr>
          <a:xfrm>
            <a:off x="8564872" y="3030613"/>
            <a:ext cx="1411056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Referências em Alfabetização</a:t>
            </a:r>
            <a:endParaRPr lang="pt-BR" sz="1200" b="1" dirty="0">
              <a:solidFill>
                <a:srgbClr val="009900"/>
              </a:solidFill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40C4105F-1E8E-AA54-0791-32812B545DC8}"/>
              </a:ext>
            </a:extLst>
          </p:cNvPr>
          <p:cNvSpPr/>
          <p:nvPr/>
        </p:nvSpPr>
        <p:spPr>
          <a:xfrm>
            <a:off x="8564872" y="3962120"/>
            <a:ext cx="1411056" cy="1410466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Maior distância de alcançar a meta</a:t>
            </a:r>
            <a:endParaRPr lang="pt-BR" sz="1200" b="1" dirty="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26F631CC-4DBA-CB62-85CC-217CE0682FB2}"/>
              </a:ext>
            </a:extLst>
          </p:cNvPr>
          <p:cNvSpPr/>
          <p:nvPr/>
        </p:nvSpPr>
        <p:spPr>
          <a:xfrm>
            <a:off x="6498038" y="3581298"/>
            <a:ext cx="1941338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Comparação por municípios, redes e </a:t>
            </a:r>
            <a:r>
              <a:rPr lang="pt-BR" sz="12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UFs</a:t>
            </a:r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93C49B6A-DF6E-C2BF-AC7A-9D10BC3CA835}"/>
              </a:ext>
            </a:extLst>
          </p:cNvPr>
          <p:cNvSpPr/>
          <p:nvPr/>
        </p:nvSpPr>
        <p:spPr>
          <a:xfrm>
            <a:off x="10155136" y="3030613"/>
            <a:ext cx="2036864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Referências entre municípios, redes e </a:t>
            </a:r>
            <a:r>
              <a:rPr lang="pt-BR" sz="1200" b="1" dirty="0" err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UFs</a:t>
            </a:r>
            <a:endParaRPr lang="pt-BR" sz="1200" b="1" dirty="0">
              <a:solidFill>
                <a:srgbClr val="009900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6F5CB448-BC97-8262-8352-2D32B30D571F}"/>
              </a:ext>
            </a:extLst>
          </p:cNvPr>
          <p:cNvSpPr/>
          <p:nvPr/>
        </p:nvSpPr>
        <p:spPr>
          <a:xfrm>
            <a:off x="10187881" y="3962120"/>
            <a:ext cx="1960359" cy="277705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Foco de Verbas Públicas</a:t>
            </a:r>
            <a:endParaRPr lang="pt-BR" sz="1200" b="1" dirty="0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888BEA56-09AE-E951-7DAE-5E89FAD960CC}"/>
              </a:ext>
            </a:extLst>
          </p:cNvPr>
          <p:cNvSpPr/>
          <p:nvPr/>
        </p:nvSpPr>
        <p:spPr>
          <a:xfrm>
            <a:off x="10190557" y="4324007"/>
            <a:ext cx="1966019" cy="305479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Capacitação de Professores</a:t>
            </a:r>
            <a:endParaRPr lang="pt-BR" sz="1200" b="1" dirty="0"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909C8B5D-F18A-7AFB-3DEA-E3C5F906A6D8}"/>
              </a:ext>
            </a:extLst>
          </p:cNvPr>
          <p:cNvSpPr/>
          <p:nvPr/>
        </p:nvSpPr>
        <p:spPr>
          <a:xfrm>
            <a:off x="10185050" y="4729490"/>
            <a:ext cx="1966019" cy="341191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Material Didático e Infraestrutura</a:t>
            </a:r>
            <a:endParaRPr lang="pt-BR" sz="1200" b="1" dirty="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ED140F4A-7A20-B30B-F196-6D3FF6982FBE}"/>
              </a:ext>
            </a:extLst>
          </p:cNvPr>
          <p:cNvSpPr/>
          <p:nvPr/>
        </p:nvSpPr>
        <p:spPr>
          <a:xfrm>
            <a:off x="10172908" y="5116060"/>
            <a:ext cx="1966019" cy="341191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Reforço dos Alunos</a:t>
            </a:r>
            <a:endParaRPr lang="pt-BR" sz="1200" b="1" dirty="0"/>
          </a:p>
        </p:txBody>
      </p:sp>
      <p:pic>
        <p:nvPicPr>
          <p:cNvPr id="44" name="Gráfico 43" descr="Aviso com preenchimento sólido">
            <a:extLst>
              <a:ext uri="{FF2B5EF4-FFF2-40B4-BE49-F238E27FC236}">
                <a16:creationId xmlns:a16="http://schemas.microsoft.com/office/drawing/2014/main" id="{87D90778-72DC-03B0-2FD1-6BF94CB776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9978" y="4009067"/>
            <a:ext cx="360843" cy="360843"/>
          </a:xfrm>
          <a:prstGeom prst="rect">
            <a:avLst/>
          </a:prstGeom>
        </p:spPr>
      </p:pic>
      <p:sp>
        <p:nvSpPr>
          <p:cNvPr id="46" name="CaixaDeTexto 45">
            <a:extLst>
              <a:ext uri="{FF2B5EF4-FFF2-40B4-BE49-F238E27FC236}">
                <a16:creationId xmlns:a16="http://schemas.microsoft.com/office/drawing/2014/main" id="{65936C90-2BF0-0536-C89F-CF013312C93A}"/>
              </a:ext>
            </a:extLst>
          </p:cNvPr>
          <p:cNvSpPr txBox="1"/>
          <p:nvPr/>
        </p:nvSpPr>
        <p:spPr>
          <a:xfrm>
            <a:off x="10155136" y="2677205"/>
            <a:ext cx="203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Ações</a:t>
            </a:r>
            <a:endParaRPr lang="pt-BR" dirty="0"/>
          </a:p>
        </p:txBody>
      </p:sp>
      <p:sp>
        <p:nvSpPr>
          <p:cNvPr id="47" name="Seta: para a Direita Listrada 46">
            <a:extLst>
              <a:ext uri="{FF2B5EF4-FFF2-40B4-BE49-F238E27FC236}">
                <a16:creationId xmlns:a16="http://schemas.microsoft.com/office/drawing/2014/main" id="{53D1457B-D89C-61C8-DE0F-0F5812B80359}"/>
              </a:ext>
            </a:extLst>
          </p:cNvPr>
          <p:cNvSpPr/>
          <p:nvPr/>
        </p:nvSpPr>
        <p:spPr>
          <a:xfrm>
            <a:off x="9921557" y="3134727"/>
            <a:ext cx="346183" cy="5463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Seta: para a Direita Listrada 47">
            <a:extLst>
              <a:ext uri="{FF2B5EF4-FFF2-40B4-BE49-F238E27FC236}">
                <a16:creationId xmlns:a16="http://schemas.microsoft.com/office/drawing/2014/main" id="{47150D80-BC3B-DBDE-F66B-5F469819D2BE}"/>
              </a:ext>
            </a:extLst>
          </p:cNvPr>
          <p:cNvSpPr/>
          <p:nvPr/>
        </p:nvSpPr>
        <p:spPr>
          <a:xfrm>
            <a:off x="9911283" y="4239285"/>
            <a:ext cx="346183" cy="5463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Listrada 7">
            <a:extLst>
              <a:ext uri="{FF2B5EF4-FFF2-40B4-BE49-F238E27FC236}">
                <a16:creationId xmlns:a16="http://schemas.microsoft.com/office/drawing/2014/main" id="{EA1C4463-2C39-CC96-C1BA-4A8AECA34BE5}"/>
              </a:ext>
            </a:extLst>
          </p:cNvPr>
          <p:cNvSpPr/>
          <p:nvPr/>
        </p:nvSpPr>
        <p:spPr>
          <a:xfrm>
            <a:off x="2140078" y="3652659"/>
            <a:ext cx="346183" cy="5463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Listrada 8">
            <a:extLst>
              <a:ext uri="{FF2B5EF4-FFF2-40B4-BE49-F238E27FC236}">
                <a16:creationId xmlns:a16="http://schemas.microsoft.com/office/drawing/2014/main" id="{AB8E5AA4-14D9-E192-D8C1-1EE1CF2DFCC3}"/>
              </a:ext>
            </a:extLst>
          </p:cNvPr>
          <p:cNvSpPr/>
          <p:nvPr/>
        </p:nvSpPr>
        <p:spPr>
          <a:xfrm>
            <a:off x="4330152" y="3615095"/>
            <a:ext cx="346183" cy="5463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74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8E79-ACB3-B52E-7FDC-B6AE6B6A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49626BD-27FF-F355-A159-E8B1A25A0D97}"/>
              </a:ext>
            </a:extLst>
          </p:cNvPr>
          <p:cNvSpPr txBox="1"/>
          <p:nvPr/>
        </p:nvSpPr>
        <p:spPr>
          <a:xfrm>
            <a:off x="0" y="0"/>
            <a:ext cx="9031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kern="0" spc="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Evolução para inteligência artificial aplicada à gestão pública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930C0B6-12F6-D170-2CE6-1AF93A5593DF}"/>
              </a:ext>
            </a:extLst>
          </p:cNvPr>
          <p:cNvSpPr/>
          <p:nvPr/>
        </p:nvSpPr>
        <p:spPr>
          <a:xfrm>
            <a:off x="238335" y="1752943"/>
            <a:ext cx="5560815" cy="418809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BE176FF-D047-7E78-D383-8A483B6EE846}"/>
              </a:ext>
            </a:extLst>
          </p:cNvPr>
          <p:cNvSpPr/>
          <p:nvPr/>
        </p:nvSpPr>
        <p:spPr>
          <a:xfrm>
            <a:off x="238334" y="1751134"/>
            <a:ext cx="5563106" cy="45623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0771A20-5956-E036-7C96-45F200B18053}"/>
              </a:ext>
            </a:extLst>
          </p:cNvPr>
          <p:cNvSpPr txBox="1"/>
          <p:nvPr/>
        </p:nvSpPr>
        <p:spPr>
          <a:xfrm>
            <a:off x="547302" y="1751134"/>
            <a:ext cx="5254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GOLD</a:t>
            </a:r>
          </a:p>
        </p:txBody>
      </p:sp>
      <p:pic>
        <p:nvPicPr>
          <p:cNvPr id="11" name="Gráfico 10" descr="Banco de dados estrutura de tópicos">
            <a:extLst>
              <a:ext uri="{FF2B5EF4-FFF2-40B4-BE49-F238E27FC236}">
                <a16:creationId xmlns:a16="http://schemas.microsoft.com/office/drawing/2014/main" id="{A966CF91-953F-F95D-7C58-9D7C60F596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3167" y="1747682"/>
            <a:ext cx="380660" cy="38066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39F3C64-FCC8-736B-3E3E-99FF6D9C0AA1}"/>
              </a:ext>
            </a:extLst>
          </p:cNvPr>
          <p:cNvSpPr txBox="1"/>
          <p:nvPr/>
        </p:nvSpPr>
        <p:spPr>
          <a:xfrm>
            <a:off x="224046" y="2273248"/>
            <a:ext cx="5563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Estratégia e Direcionamento para o gasto em políticas públicas de educação 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4871886-4772-7F88-254A-E82461DB4FBB}"/>
              </a:ext>
            </a:extLst>
          </p:cNvPr>
          <p:cNvSpPr/>
          <p:nvPr/>
        </p:nvSpPr>
        <p:spPr>
          <a:xfrm>
            <a:off x="366641" y="3848393"/>
            <a:ext cx="1742666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Compreender a evolução anual da </a:t>
            </a:r>
          </a:p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Taxa de Alfabetização</a:t>
            </a:r>
            <a:endParaRPr lang="pt-BR" sz="1200" b="1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C90F7E40-55C5-1665-D8BD-6A402FF10581}"/>
              </a:ext>
            </a:extLst>
          </p:cNvPr>
          <p:cNvSpPr/>
          <p:nvPr/>
        </p:nvSpPr>
        <p:spPr>
          <a:xfrm>
            <a:off x="4297672" y="3318004"/>
            <a:ext cx="1411056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Referências em Alfabetização</a:t>
            </a: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98A74346-B661-A701-391D-2AA634EA497E}"/>
              </a:ext>
            </a:extLst>
          </p:cNvPr>
          <p:cNvSpPr/>
          <p:nvPr/>
        </p:nvSpPr>
        <p:spPr>
          <a:xfrm>
            <a:off x="4297672" y="4249511"/>
            <a:ext cx="1411056" cy="1410466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Maior distância de alcançar a meta</a:t>
            </a:r>
            <a:endParaRPr lang="pt-BR" sz="1200" b="1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A8DF14A1-050F-D61A-376A-0EE86C18BCEB}"/>
              </a:ext>
            </a:extLst>
          </p:cNvPr>
          <p:cNvSpPr/>
          <p:nvPr/>
        </p:nvSpPr>
        <p:spPr>
          <a:xfrm>
            <a:off x="2230838" y="3868689"/>
            <a:ext cx="1941338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Identificação de grupos de municípios com desafios semelhantes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C3A69436-CCE2-5A19-2495-BABE5E44D6DA}"/>
              </a:ext>
            </a:extLst>
          </p:cNvPr>
          <p:cNvSpPr/>
          <p:nvPr/>
        </p:nvSpPr>
        <p:spPr>
          <a:xfrm>
            <a:off x="5887936" y="3318004"/>
            <a:ext cx="1983791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Referências entre municípios, redes e </a:t>
            </a:r>
            <a:r>
              <a:rPr lang="pt-BR" sz="1200" b="1" dirty="0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UFs</a:t>
            </a:r>
            <a:endParaRPr lang="pt-BR" sz="1200" b="1" dirty="0">
              <a:solidFill>
                <a:srgbClr val="1E293B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0118FA39-EA5B-2D99-2A92-D561927CF295}"/>
              </a:ext>
            </a:extLst>
          </p:cNvPr>
          <p:cNvSpPr/>
          <p:nvPr/>
        </p:nvSpPr>
        <p:spPr>
          <a:xfrm>
            <a:off x="5920681" y="4249511"/>
            <a:ext cx="1960359" cy="277705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Foco de Verbas Públicas</a:t>
            </a:r>
            <a:endParaRPr lang="pt-BR" sz="1200" b="1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51A576D-D5DE-B242-CD81-21537DB60C7E}"/>
              </a:ext>
            </a:extLst>
          </p:cNvPr>
          <p:cNvSpPr/>
          <p:nvPr/>
        </p:nvSpPr>
        <p:spPr>
          <a:xfrm>
            <a:off x="5923357" y="4628331"/>
            <a:ext cx="1966019" cy="305479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Capacitação de Professores</a:t>
            </a:r>
            <a:endParaRPr lang="pt-BR" sz="1200" b="1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03EC0F26-55DA-A4C9-2FB7-3E854005D0C4}"/>
              </a:ext>
            </a:extLst>
          </p:cNvPr>
          <p:cNvSpPr/>
          <p:nvPr/>
        </p:nvSpPr>
        <p:spPr>
          <a:xfrm>
            <a:off x="5917850" y="5033814"/>
            <a:ext cx="1966019" cy="341191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Material Didático e Infraestrutura</a:t>
            </a:r>
            <a:endParaRPr lang="pt-BR" sz="1200" b="1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D821282F-61FD-E294-B62F-138AFF7A30DF}"/>
              </a:ext>
            </a:extLst>
          </p:cNvPr>
          <p:cNvSpPr/>
          <p:nvPr/>
        </p:nvSpPr>
        <p:spPr>
          <a:xfrm>
            <a:off x="5905708" y="5403451"/>
            <a:ext cx="1966019" cy="341191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Reforço dos Alunos</a:t>
            </a:r>
            <a:endParaRPr lang="pt-BR" sz="1200" b="1" dirty="0"/>
          </a:p>
        </p:txBody>
      </p:sp>
      <p:pic>
        <p:nvPicPr>
          <p:cNvPr id="22" name="Gráfico 21" descr="Aviso com preenchimento sólido">
            <a:extLst>
              <a:ext uri="{FF2B5EF4-FFF2-40B4-BE49-F238E27FC236}">
                <a16:creationId xmlns:a16="http://schemas.microsoft.com/office/drawing/2014/main" id="{09864E38-11A2-434B-BF5B-ED616D3B70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2778" y="4296458"/>
            <a:ext cx="360843" cy="360843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363A0DF8-B28B-B201-F91A-46A7A66B5FC8}"/>
              </a:ext>
            </a:extLst>
          </p:cNvPr>
          <p:cNvSpPr txBox="1"/>
          <p:nvPr/>
        </p:nvSpPr>
        <p:spPr>
          <a:xfrm>
            <a:off x="5887936" y="2964596"/>
            <a:ext cx="203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Ações</a:t>
            </a:r>
            <a:endParaRPr lang="pt-BR" dirty="0"/>
          </a:p>
        </p:txBody>
      </p:sp>
      <p:sp>
        <p:nvSpPr>
          <p:cNvPr id="24" name="Seta: para a Direita Listrada 23">
            <a:extLst>
              <a:ext uri="{FF2B5EF4-FFF2-40B4-BE49-F238E27FC236}">
                <a16:creationId xmlns:a16="http://schemas.microsoft.com/office/drawing/2014/main" id="{156D9B24-1FE1-B61F-3A1B-3E648BD1CB18}"/>
              </a:ext>
            </a:extLst>
          </p:cNvPr>
          <p:cNvSpPr/>
          <p:nvPr/>
        </p:nvSpPr>
        <p:spPr>
          <a:xfrm>
            <a:off x="5654357" y="3422118"/>
            <a:ext cx="346183" cy="5463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Seta: para a Direita Listrada 24">
            <a:extLst>
              <a:ext uri="{FF2B5EF4-FFF2-40B4-BE49-F238E27FC236}">
                <a16:creationId xmlns:a16="http://schemas.microsoft.com/office/drawing/2014/main" id="{DFF6C874-11A1-E443-E981-612E7A7853C4}"/>
              </a:ext>
            </a:extLst>
          </p:cNvPr>
          <p:cNvSpPr/>
          <p:nvPr/>
        </p:nvSpPr>
        <p:spPr>
          <a:xfrm>
            <a:off x="5644083" y="4526676"/>
            <a:ext cx="346183" cy="5463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F54F29-DAEB-0FF0-F089-EA35B52C90CC}"/>
              </a:ext>
            </a:extLst>
          </p:cNvPr>
          <p:cNvSpPr txBox="1"/>
          <p:nvPr/>
        </p:nvSpPr>
        <p:spPr>
          <a:xfrm>
            <a:off x="116088" y="498047"/>
            <a:ext cx="99423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Inteligência Artificial como ferramenta na Alfabetização Infantil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6D81591-0098-DFE5-65FB-DF5416FA309A}"/>
              </a:ext>
            </a:extLst>
          </p:cNvPr>
          <p:cNvSpPr/>
          <p:nvPr/>
        </p:nvSpPr>
        <p:spPr>
          <a:xfrm>
            <a:off x="8020092" y="2732879"/>
            <a:ext cx="3143778" cy="320245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6D1740F-6A3C-1AE9-385B-A682AD45BA8E}"/>
              </a:ext>
            </a:extLst>
          </p:cNvPr>
          <p:cNvSpPr/>
          <p:nvPr/>
        </p:nvSpPr>
        <p:spPr>
          <a:xfrm>
            <a:off x="8020092" y="2744075"/>
            <a:ext cx="3143778" cy="4562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35C812D-D88F-90E8-1D96-187EA0B74FE3}"/>
              </a:ext>
            </a:extLst>
          </p:cNvPr>
          <p:cNvSpPr txBox="1"/>
          <p:nvPr/>
        </p:nvSpPr>
        <p:spPr>
          <a:xfrm>
            <a:off x="8020092" y="2769225"/>
            <a:ext cx="31437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IA como ferramenta de </a:t>
            </a:r>
          </a:p>
          <a:p>
            <a:pPr algn="ctr"/>
            <a:r>
              <a:rPr lang="pt-BR" sz="11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apoio na gestão pública</a:t>
            </a:r>
          </a:p>
        </p:txBody>
      </p:sp>
      <p:sp>
        <p:nvSpPr>
          <p:cNvPr id="33" name="Seta: para a Direita Listrada 32">
            <a:extLst>
              <a:ext uri="{FF2B5EF4-FFF2-40B4-BE49-F238E27FC236}">
                <a16:creationId xmlns:a16="http://schemas.microsoft.com/office/drawing/2014/main" id="{B8544E93-E766-66F6-1A62-2CC653AAB494}"/>
              </a:ext>
            </a:extLst>
          </p:cNvPr>
          <p:cNvSpPr/>
          <p:nvPr/>
        </p:nvSpPr>
        <p:spPr>
          <a:xfrm>
            <a:off x="7897093" y="3944545"/>
            <a:ext cx="415057" cy="5463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0318A167-69CE-FBCB-0D47-3097C96470DF}"/>
              </a:ext>
            </a:extLst>
          </p:cNvPr>
          <p:cNvSpPr/>
          <p:nvPr/>
        </p:nvSpPr>
        <p:spPr>
          <a:xfrm>
            <a:off x="8416970" y="3299055"/>
            <a:ext cx="2418786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Modelos de Predição</a:t>
            </a:r>
          </a:p>
          <a:p>
            <a:pPr algn="ctr"/>
            <a:r>
              <a:rPr lang="pt-BR" sz="1200" b="1" dirty="0">
                <a:solidFill>
                  <a:schemeClr val="accent1"/>
                </a:solidFill>
              </a:rPr>
              <a:t>Antecipação</a:t>
            </a:r>
            <a:r>
              <a:rPr lang="pt-BR" sz="1200" dirty="0"/>
              <a:t> de riscos do não atingimento de metas por município</a:t>
            </a: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4F849BE0-7D87-EA3D-D451-2CC78F7C8B23}"/>
              </a:ext>
            </a:extLst>
          </p:cNvPr>
          <p:cNvSpPr/>
          <p:nvPr/>
        </p:nvSpPr>
        <p:spPr>
          <a:xfrm>
            <a:off x="8391603" y="4152671"/>
            <a:ext cx="2418786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Relatórios Comparativos</a:t>
            </a:r>
          </a:p>
          <a:p>
            <a:pPr algn="ctr"/>
            <a:r>
              <a:rPr lang="pt-BR" sz="1200" b="1" dirty="0">
                <a:solidFill>
                  <a:schemeClr val="accent1"/>
                </a:solidFill>
              </a:rPr>
              <a:t>Velocidade </a:t>
            </a:r>
            <a:r>
              <a:rPr lang="pt-BR" sz="1200" dirty="0"/>
              <a:t>com a ajuda de dashboards de desigualdade educacional</a:t>
            </a: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FEA4AED3-1237-5C4C-6754-EC1E51190E94}"/>
              </a:ext>
            </a:extLst>
          </p:cNvPr>
          <p:cNvSpPr/>
          <p:nvPr/>
        </p:nvSpPr>
        <p:spPr>
          <a:xfrm>
            <a:off x="8391603" y="5014968"/>
            <a:ext cx="2418786" cy="738664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2846">
                <a:alpha val="12000"/>
              </a:srgbClr>
            </a:outerShdw>
          </a:effectLst>
        </p:spPr>
        <p:txBody>
          <a:bodyPr anchor="ctr"/>
          <a:lstStyle/>
          <a:p>
            <a:pPr algn="ctr"/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Suporte a decisão</a:t>
            </a:r>
          </a:p>
          <a:p>
            <a:pPr algn="ctr"/>
            <a:r>
              <a:rPr lang="pt-BR" sz="1200" b="1" dirty="0">
                <a:solidFill>
                  <a:schemeClr val="accent1"/>
                </a:solidFill>
              </a:rPr>
              <a:t>Priorização</a:t>
            </a:r>
            <a:r>
              <a:rPr lang="pt-BR" sz="1200" dirty="0"/>
              <a:t> de investimento para regiões e municípios</a:t>
            </a:r>
          </a:p>
        </p:txBody>
      </p:sp>
      <p:pic>
        <p:nvPicPr>
          <p:cNvPr id="40" name="Gráfico 39" descr="Reunião estrutura de tópicos">
            <a:extLst>
              <a:ext uri="{FF2B5EF4-FFF2-40B4-BE49-F238E27FC236}">
                <a16:creationId xmlns:a16="http://schemas.microsoft.com/office/drawing/2014/main" id="{B76BB51A-2F05-3AAA-0130-E34FEE8C8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0322" y="1588665"/>
            <a:ext cx="653165" cy="653165"/>
          </a:xfrm>
          <a:prstGeom prst="rect">
            <a:avLst/>
          </a:prstGeom>
        </p:spPr>
      </p:pic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BC3E202F-C833-D996-8C93-5DBDA9216E07}"/>
              </a:ext>
            </a:extLst>
          </p:cNvPr>
          <p:cNvSpPr/>
          <p:nvPr/>
        </p:nvSpPr>
        <p:spPr>
          <a:xfrm>
            <a:off x="7977948" y="1503789"/>
            <a:ext cx="3185922" cy="864711"/>
          </a:xfrm>
          <a:prstGeom prst="roundRect">
            <a:avLst/>
          </a:prstGeom>
          <a:noFill/>
          <a:ln>
            <a:solidFill>
              <a:srgbClr val="0000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0BF8036-17CF-2446-ECF0-504FFE445EFF}"/>
              </a:ext>
            </a:extLst>
          </p:cNvPr>
          <p:cNvSpPr txBox="1"/>
          <p:nvPr/>
        </p:nvSpPr>
        <p:spPr>
          <a:xfrm>
            <a:off x="8721934" y="1512286"/>
            <a:ext cx="24342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latin typeface="Cambria" panose="02040503050406030204" pitchFamily="18" charset="0"/>
                <a:ea typeface="Cambria" panose="02040503050406030204" pitchFamily="18" charset="0"/>
              </a:rPr>
              <a:t>Governo e Prefeituras decidem politicas públicas e onde investir</a:t>
            </a:r>
          </a:p>
        </p:txBody>
      </p:sp>
      <p:sp>
        <p:nvSpPr>
          <p:cNvPr id="46" name="Seta: para a Direita Listrada 45">
            <a:extLst>
              <a:ext uri="{FF2B5EF4-FFF2-40B4-BE49-F238E27FC236}">
                <a16:creationId xmlns:a16="http://schemas.microsoft.com/office/drawing/2014/main" id="{BBD4CA66-D85D-0B5C-80A3-124D2FFCDFFE}"/>
              </a:ext>
            </a:extLst>
          </p:cNvPr>
          <p:cNvSpPr/>
          <p:nvPr/>
        </p:nvSpPr>
        <p:spPr>
          <a:xfrm rot="16200000">
            <a:off x="9419914" y="2355943"/>
            <a:ext cx="415057" cy="5463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A12A3A-838D-BFD2-444C-AE906EA0D122}"/>
              </a:ext>
            </a:extLst>
          </p:cNvPr>
          <p:cNvSpPr txBox="1"/>
          <p:nvPr/>
        </p:nvSpPr>
        <p:spPr>
          <a:xfrm>
            <a:off x="3475377" y="6096007"/>
            <a:ext cx="8843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Evolução condicionada a maior histórico, enriquecimento socioeconômico, infraestrutura escolar e validação dos modelos.</a:t>
            </a:r>
          </a:p>
        </p:txBody>
      </p:sp>
    </p:spTree>
    <p:extLst>
      <p:ext uri="{BB962C8B-B14F-4D97-AF65-F5344CB8AC3E}">
        <p14:creationId xmlns:p14="http://schemas.microsoft.com/office/powerpoint/2010/main" val="392823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Espaço Reservado para Imagem 20" descr="Três livros empilhados ordenadamente">
            <a:extLst>
              <a:ext uri="{FF2B5EF4-FFF2-40B4-BE49-F238E27FC236}">
                <a16:creationId xmlns:a16="http://schemas.microsoft.com/office/drawing/2014/main" id="{E811BDF8-18F0-16C0-4CB6-912598FEEC6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21829" b="21829"/>
          <a:stretch/>
        </p:blipFill>
        <p:spPr>
          <a:xfrm>
            <a:off x="0" y="0"/>
            <a:ext cx="12191985" cy="4578350"/>
          </a:xfr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7ADA7DD4-89B8-2BBC-B7B5-D5EF86541B62}"/>
              </a:ext>
            </a:extLst>
          </p:cNvPr>
          <p:cNvSpPr txBox="1">
            <a:spLocks/>
          </p:cNvSpPr>
          <p:nvPr/>
        </p:nvSpPr>
        <p:spPr>
          <a:xfrm>
            <a:off x="4314345" y="5240236"/>
            <a:ext cx="3563308" cy="1056057"/>
          </a:xfrm>
          <a:prstGeom prst="rect">
            <a:avLst/>
          </a:prstGeom>
        </p:spPr>
        <p:txBody>
          <a:bodyPr vert="horz" lIns="91440" tIns="0" rIns="91440" bIns="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5000"/>
              </a:lnSpc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6684F1EE-B664-2F5A-53AD-140C74B6742C}"/>
              </a:ext>
            </a:extLst>
          </p:cNvPr>
          <p:cNvSpPr txBox="1">
            <a:spLocks/>
          </p:cNvSpPr>
          <p:nvPr/>
        </p:nvSpPr>
        <p:spPr>
          <a:xfrm>
            <a:off x="9087729" y="4311064"/>
            <a:ext cx="4654085" cy="2098675"/>
          </a:xfrm>
          <a:prstGeom prst="rect">
            <a:avLst/>
          </a:prstGeom>
          <a:noFill/>
        </p:spPr>
        <p:txBody>
          <a:bodyPr vert="horz" lIns="457200" tIns="457200" rIns="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1" dirty="0">
                <a:solidFill>
                  <a:schemeClr val="bg1">
                    <a:lumMod val="85000"/>
                  </a:schemeClr>
                </a:solidFill>
              </a:rPr>
              <a:t>Grupo 126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chemeClr val="bg1">
                    <a:lumMod val="85000"/>
                  </a:schemeClr>
                </a:solidFill>
              </a:rPr>
              <a:t>Alessandra Capecce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chemeClr val="bg1">
                    <a:lumMod val="85000"/>
                  </a:schemeClr>
                </a:solidFill>
              </a:rPr>
              <a:t>Alessandro Santos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chemeClr val="bg1">
                    <a:lumMod val="85000"/>
                  </a:schemeClr>
                </a:solidFill>
              </a:rPr>
              <a:t>Edson Doro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B371A2F1-7AB1-6B24-FCE2-07DD16B1F55B}"/>
              </a:ext>
            </a:extLst>
          </p:cNvPr>
          <p:cNvSpPr txBox="1">
            <a:spLocks/>
          </p:cNvSpPr>
          <p:nvPr/>
        </p:nvSpPr>
        <p:spPr>
          <a:xfrm>
            <a:off x="678420" y="2060888"/>
            <a:ext cx="3635925" cy="456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FIAP Tech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challenge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fase 2</a:t>
            </a:r>
          </a:p>
        </p:txBody>
      </p:sp>
    </p:spTree>
    <p:extLst>
      <p:ext uri="{BB962C8B-B14F-4D97-AF65-F5344CB8AC3E}">
        <p14:creationId xmlns:p14="http://schemas.microsoft.com/office/powerpoint/2010/main" val="349571534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33_TF22712842.potx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E423EA4327C34BB00130D5A1B0F37B" ma:contentTypeVersion="18" ma:contentTypeDescription="Create a new document." ma:contentTypeScope="" ma:versionID="eabdd39ff06d77b9e49e110f7075b511">
  <xsd:schema xmlns:xsd="http://www.w3.org/2001/XMLSchema" xmlns:xs="http://www.w3.org/2001/XMLSchema" xmlns:p="http://schemas.microsoft.com/office/2006/metadata/properties" xmlns:ns3="5790a19b-623e-4898-9eb4-75eaf9b301af" xmlns:ns4="f4468247-435c-4bf0-aa8c-29c3b283a78a" targetNamespace="http://schemas.microsoft.com/office/2006/metadata/properties" ma:root="true" ma:fieldsID="3835c08ad5d2004af9903b9dd3ee1d61" ns3:_="" ns4:_="">
    <xsd:import namespace="5790a19b-623e-4898-9eb4-75eaf9b301af"/>
    <xsd:import namespace="f4468247-435c-4bf0-aa8c-29c3b283a7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90a19b-623e-4898-9eb4-75eaf9b30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468247-435c-4bf0-aa8c-29c3b283a78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5790a19b-623e-4898-9eb4-75eaf9b301af" xsi:nil="true"/>
    <_activity xmlns="5790a19b-623e-4898-9eb4-75eaf9b301af" xsi:nil="true"/>
  </documentManagement>
</p:properties>
</file>

<file path=customXml/itemProps1.xml><?xml version="1.0" encoding="utf-8"?>
<ds:datastoreItem xmlns:ds="http://schemas.openxmlformats.org/officeDocument/2006/customXml" ds:itemID="{4358CC96-6DA4-436F-BF15-D90F0AD929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90a19b-623e-4898-9eb4-75eaf9b301af"/>
    <ds:schemaRef ds:uri="f4468247-435c-4bf0-aa8c-29c3b283a7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4468247-435c-4bf0-aa8c-29c3b283a78a"/>
    <ds:schemaRef ds:uri="5790a19b-623e-4898-9eb4-75eaf9b301af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{CF3AC284-7B87-424C-A0F6-FB5CBEB068CC}TFb63a7776-4452-49b2-8055-21efce632b7226c2e2cd_win32-ba73daf3aea8</Template>
  <TotalTime>4084</TotalTime>
  <Words>994</Words>
  <Application>Microsoft Office PowerPoint</Application>
  <PresentationFormat>Widescreen</PresentationFormat>
  <Paragraphs>197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Personalizado</vt:lpstr>
      <vt:lpstr>Plataforma de Dados para Análise da Alfabetização no Brasil </vt:lpstr>
      <vt:lpstr>2030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Pereira Dos Santos</dc:creator>
  <cp:lastModifiedBy>alessandra capecce</cp:lastModifiedBy>
  <cp:revision>27</cp:revision>
  <dcterms:created xsi:type="dcterms:W3CDTF">2026-07-05T17:58:26Z</dcterms:created>
  <dcterms:modified xsi:type="dcterms:W3CDTF">2026-07-14T14:56:15Z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0x0101004AE423EA4327C34BB00130D5A1B0F37B</vt:lpwstr>
  </property>
  <property fmtid="{D5CDD505-2E9C-101B-9397-08002B2CF9AE}" pid="3" name="MSIP_Label_4fc996bf-6aee-415c-aa4c-e35ad0009c67_Enabled">
    <vt:lpwstr>true</vt:lpwstr>
  </property>
  <property fmtid="{D5CDD505-2E9C-101B-9397-08002B2CF9AE}" pid="4" name="MSIP_Label_4fc996bf-6aee-415c-aa4c-e35ad0009c67_SetDate">
    <vt:lpwstr>2026-07-05T18:59:39Z</vt:lpwstr>
  </property>
  <property fmtid="{D5CDD505-2E9C-101B-9397-08002B2CF9AE}" pid="5" name="MSIP_Label_4fc996bf-6aee-415c-aa4c-e35ad0009c67_Method">
    <vt:lpwstr>Standard</vt:lpwstr>
  </property>
  <property fmtid="{D5CDD505-2E9C-101B-9397-08002B2CF9AE}" pid="6" name="MSIP_Label_4fc996bf-6aee-415c-aa4c-e35ad0009c67_Name">
    <vt:lpwstr>Compartilhamento Interno</vt:lpwstr>
  </property>
  <property fmtid="{D5CDD505-2E9C-101B-9397-08002B2CF9AE}" pid="7" name="MSIP_Label_4fc996bf-6aee-415c-aa4c-e35ad0009c67_SiteId">
    <vt:lpwstr>591669a0-183f-49a5-98f4-9aa0d0b63d81</vt:lpwstr>
  </property>
  <property fmtid="{D5CDD505-2E9C-101B-9397-08002B2CF9AE}" pid="8" name="MSIP_Label_4fc996bf-6aee-415c-aa4c-e35ad0009c67_ActionId">
    <vt:lpwstr>3bb9ab17-b34d-4778-b062-e5de61c10960</vt:lpwstr>
  </property>
  <property fmtid="{D5CDD505-2E9C-101B-9397-08002B2CF9AE}" pid="9" name="MSIP_Label_4fc996bf-6aee-415c-aa4c-e35ad0009c67_ContentBits">
    <vt:lpwstr>2</vt:lpwstr>
  </property>
  <property fmtid="{D5CDD505-2E9C-101B-9397-08002B2CF9AE}" pid="10" name="MSIP_Label_4fc996bf-6aee-415c-aa4c-e35ad0009c67_Tag">
    <vt:lpwstr>10, 3, 0, 1</vt:lpwstr>
  </property>
  <property fmtid="{D5CDD505-2E9C-101B-9397-08002B2CF9AE}" pid="11" name="ClassificationContentMarkingFooterLocations">
    <vt:lpwstr>Personalizado:9</vt:lpwstr>
  </property>
  <property fmtid="{D5CDD505-2E9C-101B-9397-08002B2CF9AE}" pid="12" name="ClassificationContentMarkingFooterText">
    <vt:lpwstr>Corporativo | Interno</vt:lpwstr>
  </property>
</Properties>
</file>